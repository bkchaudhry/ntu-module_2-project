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5143500" cy="9144000"/>
  <p:embeddedFontLst>
    <p:embeddedFont>
      <p:font typeface="Roboto"/>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fORwoiqcWcCLs+xtrOl0rw3/v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265C60-E324-44FD-8A71-C20D5EAC08D7}">
  <a:tblStyle styleId="{4D265C60-E324-44FD-8A71-C20D5EAC08D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26b78a17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26b78a17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d26b78a17e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26b78a17e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26b78a17e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d26b78a17e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4367663e0_1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4367663e0_1_1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4367663e0_1_1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26b78a17e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26b78a17e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d26b78a17e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4367663e0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4367663e0_1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d4367663e0_1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4367663e0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d4367663e0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d4367663e0_1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4367663e0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4367663e0_1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4367663e0_1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4367663e0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4367663e0_1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4367663e0_1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26b78a17e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26b78a17e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43" name="Google Shape;243;g3d26b78a17e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26b78a17e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d26b78a17e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64" name="Google Shape;264;g3d26b78a17e_0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26b78a17e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d26b78a17e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74" name="Google Shape;274;g3d26b78a17e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cfc74559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dccfc74559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84" name="Google Shape;284;g3dccfc74559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d1eb556c5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dd1eb556c5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95" name="Google Shape;295;g3dd1eb556c5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26b78a17e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d26b78a17e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07" name="Google Shape;307;g3d26b78a17e_0_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c9337976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dc9337976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20" name="Google Shape;320;g3dc9337976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26b78a17e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d26b78a17e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32" name="Google Shape;332;g3d26b78a17e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c97b155af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dc97b155af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44" name="Google Shape;344;g3dc97b155af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ccfc7455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3dccfc74559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55" name="Google Shape;355;g3dccfc74559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ccfc7455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dccfc7455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67" name="Google Shape;367;g3dccfc7455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c9337976c_0_7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dc9337976c_0_7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dc9337976c_0_7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c9337976c_0_7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dc9337976c_0_7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c9337976c_0_7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dc9337976c_0_7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dc9337976c_0_7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c9337976c_0_7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dc9337976c_0_78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dc9337976c_0_78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dc9337976c_0_7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c9337976c_0_7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dc9337976c_0_7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c9337976c_0_79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dc9337976c_0_79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dc9337976c_0_7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dc9337976c_0_79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dc9337976c_0_7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c9337976c_0_8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dc9337976c_0_8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dc9337976c_0_80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dc9337976c_0_8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dc9337976c_0_8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dc9337976c_0_80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dc9337976c_0_8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dc9337976c_0_80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dc9337976c_0_80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dc9337976c_0_8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dc9337976c_0_8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c9337976c_0_7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dc9337976c_0_7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dc9337976c_0_7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www.google.com/search?q=U.S.+Dollar+Index+%28DXY%29&amp;sca_esv=002f5cc141b4142f&amp;sxsrf=ANbL-n4QYVrtr0nn7sHjY_sZm1mHX40k3g%3A1774887098587&amp;source=hp&amp;ei=uqDKadaAIZ2E4-EPx5ff8QI&amp;iflsig=AFdpzrgAAAAAacquyvh7SXIsL8Fm2LpsL5SFddgYbLWz&amp;ved=2ahUKEwiKmcjZgciTAxW6wzgGHTJbDjYQgK4QegQIAxAB&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 Id="rId4" Type="http://schemas.openxmlformats.org/officeDocument/2006/relationships/hyperlink" Target="https://www.google.com/search?q=VIX+Volatility+Index&amp;sca_esv=002f5cc141b4142f&amp;sxsrf=ANbL-n4QYVrtr0nn7sHjY_sZm1mHX40k3g%3A1774887098587&amp;source=hp&amp;ei=uqDKadaAIZ2E4-EPx5ff8QI&amp;iflsig=AFdpzrgAAAAAacquyvh7SXIsL8Fm2LpsL5SFddgYbLWz&amp;ved=2ahUKEwiKmcjZgciTAxW6wzgGHTJbDjYQgK4QegQIAxAD&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9" name="Shape 59"/>
        <p:cNvGrpSpPr/>
        <p:nvPr/>
      </p:nvGrpSpPr>
      <p:grpSpPr>
        <a:xfrm>
          <a:off x="0" y="0"/>
          <a:ext cx="0" cy="0"/>
          <a:chOff x="0" y="0"/>
          <a:chExt cx="0" cy="0"/>
        </a:xfrm>
      </p:grpSpPr>
      <p:sp>
        <p:nvSpPr>
          <p:cNvPr id="60" name="Google Shape;60;p1"/>
          <p:cNvSpPr/>
          <p:nvPr/>
        </p:nvSpPr>
        <p:spPr>
          <a:xfrm>
            <a:off x="0" y="0"/>
            <a:ext cx="457200" cy="5143500"/>
          </a:xfrm>
          <a:prstGeom prst="rect">
            <a:avLst/>
          </a:prstGeom>
          <a:solidFill>
            <a:srgbClr val="073763"/>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
          <p:cNvSpPr/>
          <p:nvPr/>
        </p:nvSpPr>
        <p:spPr>
          <a:xfrm>
            <a:off x="777240" y="5943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chemeClr val="dk1"/>
                </a:solidFill>
                <a:latin typeface="Calibri"/>
                <a:ea typeface="Calibri"/>
                <a:cs typeface="Calibri"/>
                <a:sym typeface="Calibri"/>
              </a:rPr>
              <a:t>GLOBAL OIL PRICES</a:t>
            </a:r>
            <a:endParaRPr b="0" i="0" sz="3600" u="none" cap="none" strike="noStrike">
              <a:solidFill>
                <a:schemeClr val="dk1"/>
              </a:solidFill>
              <a:latin typeface="Calibri"/>
              <a:ea typeface="Calibri"/>
              <a:cs typeface="Calibri"/>
              <a:sym typeface="Calibri"/>
            </a:endParaRPr>
          </a:p>
        </p:txBody>
      </p:sp>
      <p:sp>
        <p:nvSpPr>
          <p:cNvPr id="62" name="Google Shape;62;p1"/>
          <p:cNvSpPr/>
          <p:nvPr/>
        </p:nvSpPr>
        <p:spPr>
          <a:xfrm>
            <a:off x="777240" y="1234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A500"/>
              </a:buClr>
              <a:buSzPts val="2200"/>
              <a:buFont typeface="Calibri"/>
              <a:buNone/>
            </a:pPr>
            <a:r>
              <a:rPr b="0" i="0" lang="en-US" sz="2200" u="none" cap="none" strike="noStrike">
                <a:solidFill>
                  <a:srgbClr val="F0A500"/>
                </a:solidFill>
                <a:latin typeface="Calibri"/>
                <a:ea typeface="Calibri"/>
                <a:cs typeface="Calibri"/>
                <a:sym typeface="Calibri"/>
              </a:rPr>
              <a:t>&amp; Geopolitical Events Pipeline</a:t>
            </a:r>
            <a:endParaRPr b="0" i="0" sz="2200" u="none" cap="none" strike="noStrike">
              <a:solidFill>
                <a:schemeClr val="dk1"/>
              </a:solidFill>
              <a:latin typeface="Calibri"/>
              <a:ea typeface="Calibri"/>
              <a:cs typeface="Calibri"/>
              <a:sym typeface="Calibri"/>
            </a:endParaRPr>
          </a:p>
        </p:txBody>
      </p:sp>
      <p:sp>
        <p:nvSpPr>
          <p:cNvPr id="63" name="Google Shape;63;p1"/>
          <p:cNvSpPr/>
          <p:nvPr/>
        </p:nvSpPr>
        <p:spPr>
          <a:xfrm>
            <a:off x="548640" y="4815840"/>
            <a:ext cx="8412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2FE"/>
              </a:buClr>
              <a:buSzPts val="1200"/>
              <a:buFont typeface="Calibri"/>
              <a:buNone/>
            </a:pPr>
            <a:r>
              <a:rPr b="0" i="1" lang="en-US" sz="1200" u="none" cap="none" strike="noStrike">
                <a:solidFill>
                  <a:schemeClr val="dk1"/>
                </a:solidFill>
                <a:latin typeface="Calibri"/>
                <a:ea typeface="Calibri"/>
                <a:cs typeface="Calibri"/>
                <a:sym typeface="Calibri"/>
              </a:rPr>
              <a:t>From Raw CSV to Business Insight — Powered by DuckDB, Meltano, BigQuery, dbt &amp; Dagster</a:t>
            </a:r>
            <a:endParaRPr b="0" i="1" sz="1200" u="none" cap="none" strike="noStrike">
              <a:solidFill>
                <a:schemeClr val="dk1"/>
              </a:solidFill>
              <a:latin typeface="Calibri"/>
              <a:ea typeface="Calibri"/>
              <a:cs typeface="Calibri"/>
              <a:sym typeface="Calibri"/>
            </a:endParaRPr>
          </a:p>
        </p:txBody>
      </p:sp>
      <p:sp>
        <p:nvSpPr>
          <p:cNvPr id="64" name="Google Shape;64;p1"/>
          <p:cNvSpPr/>
          <p:nvPr/>
        </p:nvSpPr>
        <p:spPr>
          <a:xfrm>
            <a:off x="777240" y="1783080"/>
            <a:ext cx="5029200" cy="36576"/>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
          <p:cNvSpPr/>
          <p:nvPr/>
        </p:nvSpPr>
        <p:spPr>
          <a:xfrm>
            <a:off x="701475" y="1820747"/>
            <a:ext cx="7315200" cy="102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E"/>
              </a:buClr>
              <a:buSzPts val="1400"/>
              <a:buFont typeface="Calibri"/>
              <a:buNone/>
            </a:pPr>
            <a:r>
              <a:rPr lang="en-US">
                <a:solidFill>
                  <a:schemeClr val="dk1"/>
                </a:solidFill>
                <a:latin typeface="Calibri"/>
                <a:ea typeface="Calibri"/>
                <a:cs typeface="Calibri"/>
                <a:sym typeface="Calibri"/>
              </a:rPr>
              <a:t>Advanced Professional Certificate in Data Science &amp; Artificial Intelligence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rPr b="0" i="0" lang="en-US" sz="1400" u="none" cap="none" strike="noStrike">
                <a:solidFill>
                  <a:schemeClr val="dk1"/>
                </a:solidFill>
                <a:latin typeface="Calibri"/>
                <a:ea typeface="Calibri"/>
                <a:cs typeface="Calibri"/>
                <a:sym typeface="Calibri"/>
              </a:rPr>
              <a:t>Module 2 Project | </a:t>
            </a:r>
            <a:r>
              <a:rPr lang="en-US">
                <a:solidFill>
                  <a:schemeClr val="dk1"/>
                </a:solidFill>
                <a:latin typeface="Calibri"/>
                <a:ea typeface="Calibri"/>
                <a:cs typeface="Calibri"/>
                <a:sym typeface="Calibri"/>
              </a:rPr>
              <a:t>DSAI-4 |Group- 8</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rgbClr val="C7D2FE"/>
              </a:solidFill>
              <a:latin typeface="Calibri"/>
              <a:ea typeface="Calibri"/>
              <a:cs typeface="Calibri"/>
              <a:sym typeface="Calibri"/>
            </a:endParaRPr>
          </a:p>
        </p:txBody>
      </p:sp>
      <p:sp>
        <p:nvSpPr>
          <p:cNvPr id="66" name="Google Shape;66;p1"/>
          <p:cNvSpPr txBox="1"/>
          <p:nvPr/>
        </p:nvSpPr>
        <p:spPr>
          <a:xfrm>
            <a:off x="854080" y="3041750"/>
            <a:ext cx="3009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Team Members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Daniel Chan Chee Seng</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Edwin Yap Wei Tian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Julius Tiew</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Jagatheeswaran Rajagurunathan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Bhupinder Kaur</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1" name="Shape 71"/>
        <p:cNvGrpSpPr/>
        <p:nvPr/>
      </p:nvGrpSpPr>
      <p:grpSpPr>
        <a:xfrm>
          <a:off x="0" y="0"/>
          <a:ext cx="0" cy="0"/>
          <a:chOff x="0" y="0"/>
          <a:chExt cx="0" cy="0"/>
        </a:xfrm>
      </p:grpSpPr>
      <p:sp>
        <p:nvSpPr>
          <p:cNvPr id="72" name="Google Shape;72;g3d26b78a17e_0_1"/>
          <p:cNvSpPr/>
          <p:nvPr/>
        </p:nvSpPr>
        <p:spPr>
          <a:xfrm>
            <a:off x="0" y="0"/>
            <a:ext cx="9144000" cy="454500"/>
          </a:xfrm>
          <a:prstGeom prst="rect">
            <a:avLst/>
          </a:prstGeom>
          <a:solidFill>
            <a:srgbClr val="073763"/>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d26b78a17e_0_1"/>
          <p:cNvSpPr/>
          <p:nvPr/>
        </p:nvSpPr>
        <p:spPr>
          <a:xfrm>
            <a:off x="365750" y="91445"/>
            <a:ext cx="8229600" cy="29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Executive Summary</a:t>
            </a:r>
            <a:endParaRPr b="0" i="0" sz="2600" u="none" cap="none" strike="noStrike">
              <a:solidFill>
                <a:schemeClr val="dk1"/>
              </a:solidFill>
              <a:latin typeface="Calibri"/>
              <a:ea typeface="Calibri"/>
              <a:cs typeface="Calibri"/>
              <a:sym typeface="Calibri"/>
            </a:endParaRPr>
          </a:p>
        </p:txBody>
      </p:sp>
      <p:sp>
        <p:nvSpPr>
          <p:cNvPr id="74" name="Google Shape;74;g3d26b78a17e_0_1"/>
          <p:cNvSpPr txBox="1"/>
          <p:nvPr/>
        </p:nvSpPr>
        <p:spPr>
          <a:xfrm>
            <a:off x="162950" y="1478305"/>
            <a:ext cx="8789400" cy="103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sz="1200">
                <a:solidFill>
                  <a:schemeClr val="dk1"/>
                </a:solidFill>
                <a:latin typeface="Calibri"/>
                <a:ea typeface="Calibri"/>
                <a:cs typeface="Calibri"/>
                <a:sym typeface="Calibri"/>
              </a:rPr>
              <a:t>The global oil market is highly sensitive to </a:t>
            </a:r>
            <a:r>
              <a:rPr b="1" lang="en-US" sz="1200">
                <a:solidFill>
                  <a:schemeClr val="dk1"/>
                </a:solidFill>
                <a:latin typeface="Calibri"/>
                <a:ea typeface="Calibri"/>
                <a:cs typeface="Calibri"/>
                <a:sym typeface="Calibri"/>
              </a:rPr>
              <a:t>geopolitical events, macroeconomic shifts, and market sentiment</a:t>
            </a:r>
            <a:r>
              <a:rPr lang="en-US" sz="1200">
                <a:solidFill>
                  <a:schemeClr val="dk1"/>
                </a:solidFill>
                <a:latin typeface="Calibri"/>
                <a:ea typeface="Calibri"/>
                <a:cs typeface="Calibri"/>
                <a:sym typeface="Calibri"/>
              </a:rPr>
              <a:t>. Understanding how these factors interact with oil price movements is critical for energy analysts, policymakers, and investors. </a:t>
            </a:r>
            <a:endParaRPr sz="1200">
              <a:solidFill>
                <a:schemeClr val="dk1"/>
              </a:solidFill>
              <a:latin typeface="Calibri"/>
              <a:ea typeface="Calibri"/>
              <a:cs typeface="Calibri"/>
              <a:sym typeface="Calibri"/>
            </a:endParaRPr>
          </a:p>
          <a:p>
            <a:pPr indent="0" lvl="0" marL="0" rtl="0" algn="l">
              <a:lnSpc>
                <a:spcPct val="115000"/>
              </a:lnSpc>
              <a:spcBef>
                <a:spcPts val="200"/>
              </a:spcBef>
              <a:spcAft>
                <a:spcPts val="200"/>
              </a:spcAft>
              <a:buNone/>
            </a:pPr>
            <a:r>
              <a:rPr lang="en-US" sz="1200">
                <a:solidFill>
                  <a:schemeClr val="dk1"/>
                </a:solidFill>
                <a:latin typeface="Calibri"/>
                <a:ea typeface="Calibri"/>
                <a:cs typeface="Calibri"/>
                <a:sym typeface="Calibri"/>
              </a:rPr>
              <a:t>However, the relationship between geopolitical risk, financial market volatility, and oil prices is complex, non-linear, and varies across different market regimes. Typical understanding is that the oil pricises are </a:t>
            </a:r>
            <a:r>
              <a:rPr lang="en-US" sz="1200">
                <a:solidFill>
                  <a:schemeClr val="dk1"/>
                </a:solidFill>
                <a:latin typeface="Calibri"/>
                <a:ea typeface="Calibri"/>
                <a:cs typeface="Calibri"/>
                <a:sym typeface="Calibri"/>
              </a:rPr>
              <a:t>impacted</a:t>
            </a:r>
            <a:r>
              <a:rPr lang="en-US" sz="1200">
                <a:solidFill>
                  <a:schemeClr val="dk1"/>
                </a:solidFill>
                <a:latin typeface="Calibri"/>
                <a:ea typeface="Calibri"/>
                <a:cs typeface="Calibri"/>
                <a:sym typeface="Calibri"/>
              </a:rPr>
              <a:t> by supply and demand. </a:t>
            </a:r>
            <a:endParaRPr sz="1200">
              <a:solidFill>
                <a:schemeClr val="dk1"/>
              </a:solidFill>
              <a:latin typeface="Calibri"/>
              <a:ea typeface="Calibri"/>
              <a:cs typeface="Calibri"/>
              <a:sym typeface="Calibri"/>
            </a:endParaRPr>
          </a:p>
        </p:txBody>
      </p:sp>
      <p:sp>
        <p:nvSpPr>
          <p:cNvPr id="75" name="Google Shape;75;g3d26b78a17e_0_1"/>
          <p:cNvSpPr txBox="1"/>
          <p:nvPr/>
        </p:nvSpPr>
        <p:spPr>
          <a:xfrm>
            <a:off x="166800" y="1228546"/>
            <a:ext cx="3000000" cy="63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a:solidFill>
                  <a:schemeClr val="dk1"/>
                </a:solidFill>
                <a:latin typeface="Calibri"/>
                <a:ea typeface="Calibri"/>
                <a:cs typeface="Calibri"/>
                <a:sym typeface="Calibri"/>
              </a:rPr>
              <a:t>Background</a:t>
            </a:r>
            <a:endParaRPr b="1">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
        <p:nvSpPr>
          <p:cNvPr id="76" name="Google Shape;76;g3d26b78a17e_0_1"/>
          <p:cNvSpPr txBox="1"/>
          <p:nvPr/>
        </p:nvSpPr>
        <p:spPr>
          <a:xfrm>
            <a:off x="162950" y="2704743"/>
            <a:ext cx="85725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3C4043"/>
                </a:solidFill>
                <a:latin typeface="Calibri"/>
                <a:ea typeface="Calibri"/>
                <a:cs typeface="Calibri"/>
                <a:sym typeface="Calibri"/>
              </a:rPr>
              <a:t>This </a:t>
            </a:r>
            <a:r>
              <a:rPr b="1" lang="en-US" sz="1200">
                <a:solidFill>
                  <a:srgbClr val="3C4043"/>
                </a:solidFill>
                <a:latin typeface="Calibri"/>
                <a:ea typeface="Calibri"/>
                <a:cs typeface="Calibri"/>
                <a:sym typeface="Calibri"/>
              </a:rPr>
              <a:t>dataset</a:t>
            </a:r>
            <a:r>
              <a:rPr lang="en-US" sz="1200">
                <a:solidFill>
                  <a:srgbClr val="3C4043"/>
                </a:solidFill>
                <a:latin typeface="Calibri"/>
                <a:ea typeface="Calibri"/>
                <a:cs typeface="Calibri"/>
                <a:sym typeface="Calibri"/>
              </a:rPr>
              <a:t> explores the relationship between </a:t>
            </a:r>
            <a:r>
              <a:rPr b="1" lang="en-US" sz="1200">
                <a:solidFill>
                  <a:srgbClr val="3C4043"/>
                </a:solidFill>
                <a:latin typeface="Calibri"/>
                <a:ea typeface="Calibri"/>
                <a:cs typeface="Calibri"/>
                <a:sym typeface="Calibri"/>
              </a:rPr>
              <a:t>global oil markets and geopolitical events</a:t>
            </a:r>
            <a:r>
              <a:rPr lang="en-US" sz="1200">
                <a:solidFill>
                  <a:srgbClr val="3C4043"/>
                </a:solidFill>
                <a:latin typeface="Calibri"/>
                <a:ea typeface="Calibri"/>
                <a:cs typeface="Calibri"/>
                <a:sym typeface="Calibri"/>
              </a:rPr>
              <a:t> from </a:t>
            </a:r>
            <a:r>
              <a:rPr b="1" lang="en-US" sz="1200">
                <a:solidFill>
                  <a:srgbClr val="3C4043"/>
                </a:solidFill>
                <a:latin typeface="Calibri"/>
                <a:ea typeface="Calibri"/>
                <a:cs typeface="Calibri"/>
                <a:sym typeface="Calibri"/>
              </a:rPr>
              <a:t>2010 to 2026</a:t>
            </a:r>
            <a:r>
              <a:rPr lang="en-US" sz="1200">
                <a:solidFill>
                  <a:srgbClr val="3C4043"/>
                </a:solidFill>
                <a:latin typeface="Calibri"/>
                <a:ea typeface="Calibri"/>
                <a:cs typeface="Calibri"/>
                <a:sym typeface="Calibri"/>
              </a:rPr>
              <a:t>. It combines daily oil price data with macroeconomic indicators, a geopolitical risk index, and a curated timeline of major global events that have historically influenced energy markets.</a:t>
            </a:r>
            <a:endParaRPr sz="1200">
              <a:solidFill>
                <a:srgbClr val="3C4043"/>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endParaRPr>
          </a:p>
        </p:txBody>
      </p:sp>
      <p:sp>
        <p:nvSpPr>
          <p:cNvPr id="77" name="Google Shape;77;g3d26b78a17e_0_1"/>
          <p:cNvSpPr txBox="1"/>
          <p:nvPr/>
        </p:nvSpPr>
        <p:spPr>
          <a:xfrm>
            <a:off x="166800" y="241458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Overview</a:t>
            </a:r>
            <a:endParaRPr b="1">
              <a:latin typeface="Calibri"/>
              <a:ea typeface="Calibri"/>
              <a:cs typeface="Calibri"/>
              <a:sym typeface="Calibri"/>
            </a:endParaRPr>
          </a:p>
          <a:p>
            <a:pPr indent="0" lvl="0" marL="0" rtl="0" algn="l">
              <a:spcBef>
                <a:spcPts val="0"/>
              </a:spcBef>
              <a:spcAft>
                <a:spcPts val="0"/>
              </a:spcAft>
              <a:buNone/>
            </a:pPr>
            <a:r>
              <a:t/>
            </a:r>
            <a:endParaRPr/>
          </a:p>
        </p:txBody>
      </p:sp>
      <p:sp>
        <p:nvSpPr>
          <p:cNvPr id="78" name="Google Shape;78;g3d26b78a17e_0_1"/>
          <p:cNvSpPr txBox="1"/>
          <p:nvPr/>
        </p:nvSpPr>
        <p:spPr>
          <a:xfrm>
            <a:off x="162950" y="3599825"/>
            <a:ext cx="89235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90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Brent Crude (Global Benchmark)</a:t>
            </a:r>
            <a:r>
              <a:rPr lang="en-US" sz="1200">
                <a:solidFill>
                  <a:srgbClr val="0A0A0A"/>
                </a:solidFill>
                <a:latin typeface="Calibri"/>
                <a:ea typeface="Calibri"/>
                <a:cs typeface="Calibri"/>
                <a:sym typeface="Calibri"/>
              </a:rPr>
              <a:t>: Often referred to as European/North Sea crude, this is used to price roughly two-thirds of the world's traded oil. It is primarily refined in Northwest Europe and is sensitive to political tensions in Europe, Africa, and the Middle East.</a:t>
            </a:r>
            <a:endParaRPr sz="1200">
              <a:solidFill>
                <a:srgbClr val="0A0A0A"/>
              </a:solidFill>
              <a:latin typeface="Calibri"/>
              <a:ea typeface="Calibri"/>
              <a:cs typeface="Calibri"/>
              <a:sym typeface="Calibri"/>
            </a:endParaRPr>
          </a:p>
          <a:p>
            <a:pPr indent="-304800" lvl="0" marL="457200" rtl="0" algn="l">
              <a:lnSpc>
                <a:spcPct val="150000"/>
              </a:lnSpc>
              <a:spcBef>
                <a:spcPts val="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WTI Crude (US Benchmark):</a:t>
            </a:r>
            <a:r>
              <a:rPr lang="en-US" sz="1200">
                <a:solidFill>
                  <a:srgbClr val="0A0A0A"/>
                </a:solidFill>
                <a:latin typeface="Calibri"/>
                <a:ea typeface="Calibri"/>
                <a:cs typeface="Calibri"/>
                <a:sym typeface="Calibri"/>
              </a:rPr>
              <a:t>  Referred to as US Crude or Light Sweet Crude, this is primarily used for gasoline production in the United States. It is transported via pipeline from locations like Cushing, Oklahoma, and is highly sensitive to US production data.</a:t>
            </a:r>
            <a:endParaRPr sz="1200">
              <a:solidFill>
                <a:srgbClr val="0A0A0A"/>
              </a:solidFill>
              <a:latin typeface="Calibri"/>
              <a:ea typeface="Calibri"/>
              <a:cs typeface="Calibri"/>
              <a:sym typeface="Calibri"/>
            </a:endParaRPr>
          </a:p>
        </p:txBody>
      </p:sp>
      <p:sp>
        <p:nvSpPr>
          <p:cNvPr id="79" name="Google Shape;79;g3d26b78a17e_0_1"/>
          <p:cNvSpPr txBox="1"/>
          <p:nvPr/>
        </p:nvSpPr>
        <p:spPr>
          <a:xfrm>
            <a:off x="166800" y="503369"/>
            <a:ext cx="8717700" cy="820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a:solidFill>
                  <a:schemeClr val="dk1"/>
                </a:solidFill>
                <a:latin typeface="Calibri"/>
                <a:ea typeface="Calibri"/>
                <a:cs typeface="Calibri"/>
                <a:sym typeface="Calibri"/>
              </a:rPr>
              <a:t>Problem Statement:  </a:t>
            </a:r>
            <a:endParaRPr b="1">
              <a:solidFill>
                <a:schemeClr val="dk1"/>
              </a:solidFill>
              <a:latin typeface="Calibri"/>
              <a:ea typeface="Calibri"/>
              <a:cs typeface="Calibri"/>
              <a:sym typeface="Calibri"/>
            </a:endParaRPr>
          </a:p>
          <a:p>
            <a:pPr indent="0" lvl="0" marL="0" rtl="0" algn="l">
              <a:lnSpc>
                <a:spcPct val="100000"/>
              </a:lnSpc>
              <a:spcBef>
                <a:spcPts val="400"/>
              </a:spcBef>
              <a:spcAft>
                <a:spcPts val="400"/>
              </a:spcAft>
              <a:buNone/>
            </a:pPr>
            <a:r>
              <a:rPr lang="en-US" sz="1200">
                <a:solidFill>
                  <a:srgbClr val="3C4043"/>
                </a:solidFill>
                <a:latin typeface="Calibri"/>
                <a:ea typeface="Calibri"/>
                <a:cs typeface="Calibri"/>
                <a:sym typeface="Calibri"/>
              </a:rPr>
              <a:t>Global Oil market </a:t>
            </a:r>
            <a:r>
              <a:rPr lang="en-US" sz="1200">
                <a:solidFill>
                  <a:srgbClr val="3C4043"/>
                </a:solidFill>
                <a:latin typeface="Calibri"/>
                <a:ea typeface="Calibri"/>
                <a:cs typeface="Calibri"/>
                <a:sym typeface="Calibri"/>
              </a:rPr>
              <a:t>volatility</a:t>
            </a:r>
            <a:r>
              <a:rPr lang="en-US" sz="1200">
                <a:solidFill>
                  <a:srgbClr val="3C4043"/>
                </a:solidFill>
                <a:latin typeface="Calibri"/>
                <a:ea typeface="Calibri"/>
                <a:cs typeface="Calibri"/>
                <a:sym typeface="Calibri"/>
              </a:rPr>
              <a:t> with geopolitical events. A curated timeline of major geopolitical events affecting global oil markets, including wars, sanctions, supply disruptions, and Organization of the Petroleum Exporting Countries (OPEC) policy decisions.</a:t>
            </a:r>
            <a:endParaRPr sz="1000">
              <a:solidFill>
                <a:schemeClr val="dk1"/>
              </a:solidFill>
              <a:highlight>
                <a:schemeClr val="lt1"/>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4" name="Shape 84"/>
        <p:cNvGrpSpPr/>
        <p:nvPr/>
      </p:nvGrpSpPr>
      <p:grpSpPr>
        <a:xfrm>
          <a:off x="0" y="0"/>
          <a:ext cx="0" cy="0"/>
          <a:chOff x="0" y="0"/>
          <a:chExt cx="0" cy="0"/>
        </a:xfrm>
      </p:grpSpPr>
      <p:sp>
        <p:nvSpPr>
          <p:cNvPr id="85" name="Google Shape;85;g3d26b78a17e_0_23"/>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26b78a17e_0_23"/>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Overview</a:t>
            </a:r>
            <a:endParaRPr b="0" i="0" sz="2600" u="none" cap="none" strike="noStrike">
              <a:solidFill>
                <a:schemeClr val="dk1"/>
              </a:solidFill>
              <a:latin typeface="Calibri"/>
              <a:ea typeface="Calibri"/>
              <a:cs typeface="Calibri"/>
              <a:sym typeface="Calibri"/>
            </a:endParaRPr>
          </a:p>
        </p:txBody>
      </p:sp>
      <p:sp>
        <p:nvSpPr>
          <p:cNvPr id="87" name="Google Shape;87;g3d26b78a17e_0_23"/>
          <p:cNvSpPr txBox="1"/>
          <p:nvPr/>
        </p:nvSpPr>
        <p:spPr>
          <a:xfrm>
            <a:off x="129750" y="772999"/>
            <a:ext cx="7896000" cy="532200"/>
          </a:xfrm>
          <a:prstGeom prst="rect">
            <a:avLst/>
          </a:prstGeom>
          <a:noFill/>
          <a:ln>
            <a:noFill/>
          </a:ln>
        </p:spPr>
        <p:txBody>
          <a:bodyPr anchorCtr="0" anchor="t" bIns="91425" lIns="91425" spcFirstLastPara="1" rIns="91425" wrap="square" tIns="91425">
            <a:spAutoFit/>
          </a:bodyPr>
          <a:lstStyle/>
          <a:p>
            <a:pPr indent="-295275" lvl="0" marL="457200" rtl="0" algn="l">
              <a:lnSpc>
                <a:spcPct val="115000"/>
              </a:lnSpc>
              <a:spcBef>
                <a:spcPts val="2400"/>
              </a:spcBef>
              <a:spcAft>
                <a:spcPts val="0"/>
              </a:spcAft>
              <a:buClr>
                <a:srgbClr val="3C4043"/>
              </a:buClr>
              <a:buSzPts val="1050"/>
              <a:buChar char="●"/>
            </a:pPr>
            <a:r>
              <a:rPr b="1" lang="en-US" sz="1050">
                <a:solidFill>
                  <a:srgbClr val="3C4043"/>
                </a:solidFill>
              </a:rPr>
              <a:t>oil_geopolitics_dataset_2010_2026.csv</a:t>
            </a:r>
            <a:r>
              <a:rPr lang="en-US" sz="1050">
                <a:solidFill>
                  <a:srgbClr val="3C4043"/>
                </a:solidFill>
              </a:rPr>
              <a:t> – Final merged dataset with engineered features and event annotations</a:t>
            </a:r>
            <a:endParaRPr sz="1050">
              <a:solidFill>
                <a:srgbClr val="3C4043"/>
              </a:solidFill>
            </a:endParaRPr>
          </a:p>
          <a:p>
            <a:pPr indent="-295275" lvl="0" marL="457200" rtl="0" algn="l">
              <a:lnSpc>
                <a:spcPct val="115000"/>
              </a:lnSpc>
              <a:spcBef>
                <a:spcPts val="0"/>
              </a:spcBef>
              <a:spcAft>
                <a:spcPts val="0"/>
              </a:spcAft>
              <a:buClr>
                <a:srgbClr val="3C4043"/>
              </a:buClr>
              <a:buSzPts val="1050"/>
              <a:buChar char="●"/>
            </a:pPr>
            <a:r>
              <a:rPr b="1" lang="en-US" sz="1050">
                <a:solidFill>
                  <a:srgbClr val="3C4043"/>
                </a:solidFill>
              </a:rPr>
              <a:t>geopolitical_events_timeline.csv</a:t>
            </a:r>
            <a:r>
              <a:rPr lang="en-US" sz="1050">
                <a:solidFill>
                  <a:srgbClr val="3C4043"/>
                </a:solidFill>
              </a:rPr>
              <a:t> – Timeline of major geopolitical events affecting global oil markets</a:t>
            </a:r>
            <a:endParaRPr sz="1050">
              <a:solidFill>
                <a:srgbClr val="3C4043"/>
              </a:solidFill>
            </a:endParaRPr>
          </a:p>
        </p:txBody>
      </p:sp>
      <p:sp>
        <p:nvSpPr>
          <p:cNvPr id="88" name="Google Shape;88;g3d26b78a17e_0_23"/>
          <p:cNvSpPr txBox="1"/>
          <p:nvPr/>
        </p:nvSpPr>
        <p:spPr>
          <a:xfrm>
            <a:off x="0" y="54257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Sources:</a:t>
            </a:r>
            <a:endParaRPr b="1" sz="1200"/>
          </a:p>
        </p:txBody>
      </p:sp>
      <p:sp>
        <p:nvSpPr>
          <p:cNvPr id="89" name="Google Shape;89;g3d26b78a17e_0_23"/>
          <p:cNvSpPr txBox="1"/>
          <p:nvPr/>
        </p:nvSpPr>
        <p:spPr>
          <a:xfrm>
            <a:off x="209450" y="2670325"/>
            <a:ext cx="38979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t/>
            </a:r>
            <a:endParaRPr b="1" sz="1200">
              <a:solidFill>
                <a:srgbClr val="202124"/>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Market Data</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 crude oil price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WTI crude oil price</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Macroeconomic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U.S. Dollar Index (DXY)- (</a:t>
            </a:r>
            <a:r>
              <a:rPr lang="en-US" sz="1000">
                <a:solidFill>
                  <a:srgbClr val="3C4043"/>
                </a:solidFill>
                <a:latin typeface="Calibri"/>
                <a:ea typeface="Calibri"/>
                <a:cs typeface="Calibri"/>
                <a:sym typeface="Calibri"/>
              </a:rPr>
              <a:t>Dollar’s strength)</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VIX volatility index- </a:t>
            </a:r>
            <a:r>
              <a:rPr lang="en-US" sz="1000">
                <a:solidFill>
                  <a:srgbClr val="3C4043"/>
                </a:solidFill>
                <a:latin typeface="Calibri"/>
                <a:ea typeface="Calibri"/>
                <a:cs typeface="Calibri"/>
                <a:sym typeface="Calibri"/>
              </a:rPr>
              <a:t>Market valiatility </a:t>
            </a:r>
            <a:r>
              <a:rPr lang="en-US" sz="1000">
                <a:solidFill>
                  <a:srgbClr val="3C4043"/>
                </a:solidFill>
                <a:latin typeface="Calibri"/>
                <a:ea typeface="Calibri"/>
                <a:cs typeface="Calibri"/>
                <a:sym typeface="Calibri"/>
              </a:rPr>
              <a:t>against</a:t>
            </a:r>
            <a:r>
              <a:rPr lang="en-US" sz="1000">
                <a:solidFill>
                  <a:srgbClr val="3C4043"/>
                </a:solidFill>
                <a:latin typeface="Calibri"/>
                <a:ea typeface="Calibri"/>
                <a:cs typeface="Calibri"/>
                <a:sym typeface="Calibri"/>
              </a:rPr>
              <a:t> S&amp;P 500 Index	</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Geopolitical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Geopolitical Risk Index (GPR)- </a:t>
            </a:r>
            <a:r>
              <a:rPr lang="en-US" sz="1000">
                <a:solidFill>
                  <a:srgbClr val="3C4043"/>
                </a:solidFill>
                <a:latin typeface="Calibri"/>
                <a:ea typeface="Calibri"/>
                <a:cs typeface="Calibri"/>
                <a:sym typeface="Calibri"/>
              </a:rPr>
              <a:t>Geo tension</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900"/>
              </a:spcAft>
              <a:buNone/>
            </a:pPr>
            <a:r>
              <a:t/>
            </a:r>
            <a:endParaRPr sz="1200">
              <a:solidFill>
                <a:srgbClr val="3C4043"/>
              </a:solidFill>
              <a:latin typeface="Calibri"/>
              <a:ea typeface="Calibri"/>
              <a:cs typeface="Calibri"/>
              <a:sym typeface="Calibri"/>
            </a:endParaRPr>
          </a:p>
        </p:txBody>
      </p:sp>
      <p:sp>
        <p:nvSpPr>
          <p:cNvPr id="90" name="Google Shape;90;g3d26b78a17e_0_23"/>
          <p:cNvSpPr txBox="1"/>
          <p:nvPr/>
        </p:nvSpPr>
        <p:spPr>
          <a:xfrm>
            <a:off x="129750" y="1246322"/>
            <a:ext cx="8479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In addition to raw financial data, the dataset includes </a:t>
            </a:r>
            <a:r>
              <a:rPr b="1" lang="en-US" sz="1200">
                <a:latin typeface="Calibri"/>
                <a:ea typeface="Calibri"/>
                <a:cs typeface="Calibri"/>
                <a:sym typeface="Calibri"/>
              </a:rPr>
              <a:t>engineered features</a:t>
            </a:r>
            <a:r>
              <a:rPr lang="en-US" sz="1200">
                <a:latin typeface="Calibri"/>
                <a:ea typeface="Calibri"/>
                <a:cs typeface="Calibri"/>
                <a:sym typeface="Calibri"/>
              </a:rPr>
              <a:t> such as lagged prices, rolling volatility measures, and price spreads between Brent and WTI. </a:t>
            </a:r>
            <a:endParaRPr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lang="en-US" sz="1200">
                <a:latin typeface="Calibri"/>
                <a:ea typeface="Calibri"/>
                <a:cs typeface="Calibri"/>
                <a:sym typeface="Calibri"/>
              </a:rPr>
              <a:t>A curated list of major geopolitical events—including wars, sanctions, supply disruptions, and OPEC policy changes—is also included, allowing researchers to analyze how geopolitical shocks affect oil markets.</a:t>
            </a:r>
            <a:endParaRPr sz="1200">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91" name="Google Shape;91;g3d26b78a17e_0_23"/>
          <p:cNvSpPr txBox="1"/>
          <p:nvPr/>
        </p:nvSpPr>
        <p:spPr>
          <a:xfrm>
            <a:off x="4513300" y="2673725"/>
            <a:ext cx="46308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Engineered Features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Daily returns - </a:t>
            </a:r>
            <a:r>
              <a:rPr lang="en-US" sz="1000">
                <a:solidFill>
                  <a:srgbClr val="3C4043"/>
                </a:solidFill>
                <a:latin typeface="Calibri"/>
                <a:ea typeface="Calibri"/>
                <a:cs typeface="Calibri"/>
                <a:sym typeface="Calibri"/>
              </a:rPr>
              <a:t>Price % change from previous day to </a:t>
            </a:r>
            <a:r>
              <a:rPr lang="en-US" sz="1000">
                <a:solidFill>
                  <a:srgbClr val="3C4043"/>
                </a:solidFill>
                <a:latin typeface="Calibri"/>
                <a:ea typeface="Calibri"/>
                <a:cs typeface="Calibri"/>
                <a:sym typeface="Calibri"/>
              </a:rPr>
              <a:t>current</a:t>
            </a:r>
            <a:r>
              <a:rPr lang="en-US" sz="1000">
                <a:solidFill>
                  <a:srgbClr val="3C4043"/>
                </a:solidFill>
                <a:latin typeface="Calibri"/>
                <a:ea typeface="Calibri"/>
                <a:cs typeface="Calibri"/>
                <a:sym typeface="Calibri"/>
              </a:rPr>
              <a:t> day </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Lagged prices- </a:t>
            </a:r>
            <a:r>
              <a:rPr lang="en-US" sz="1100">
                <a:solidFill>
                  <a:srgbClr val="3C4043"/>
                </a:solidFill>
                <a:latin typeface="Calibri"/>
                <a:ea typeface="Calibri"/>
                <a:cs typeface="Calibri"/>
                <a:sym typeface="Calibri"/>
              </a:rPr>
              <a:t>Indicator</a:t>
            </a:r>
            <a:r>
              <a:rPr lang="en-US" sz="1100">
                <a:solidFill>
                  <a:srgbClr val="3C4043"/>
                </a:solidFill>
                <a:latin typeface="Calibri"/>
                <a:ea typeface="Calibri"/>
                <a:cs typeface="Calibri"/>
                <a:sym typeface="Calibri"/>
              </a:rPr>
              <a:t> of lag in change in price</a:t>
            </a:r>
            <a:endParaRPr sz="11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Rolling volatility measures- </a:t>
            </a:r>
            <a:r>
              <a:rPr lang="en-US" sz="1200">
                <a:solidFill>
                  <a:srgbClr val="0A0A0A"/>
                </a:solidFill>
                <a:highlight>
                  <a:srgbClr val="FFFFFF"/>
                </a:highlight>
                <a:latin typeface="Calibri"/>
                <a:ea typeface="Calibri"/>
                <a:cs typeface="Calibri"/>
                <a:sym typeface="Calibri"/>
              </a:rPr>
              <a:t>d</a:t>
            </a:r>
            <a:r>
              <a:rPr lang="en-US" sz="1000">
                <a:solidFill>
                  <a:srgbClr val="0A0A0A"/>
                </a:solidFill>
                <a:highlight>
                  <a:srgbClr val="FFFFFF"/>
                </a:highlight>
                <a:latin typeface="Calibri"/>
                <a:ea typeface="Calibri"/>
                <a:cs typeface="Calibri"/>
                <a:sym typeface="Calibri"/>
              </a:rPr>
              <a:t>ynamic measure of price fluctuation SD</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Brent–WTI spread- </a:t>
            </a:r>
            <a:r>
              <a:rPr lang="en-US" sz="1000">
                <a:solidFill>
                  <a:srgbClr val="3C4043"/>
                </a:solidFill>
                <a:latin typeface="Calibri"/>
                <a:ea typeface="Calibri"/>
                <a:cs typeface="Calibri"/>
                <a:sym typeface="Calibri"/>
              </a:rPr>
              <a:t>Price difference </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Event Annotations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flag (indicating major geopolitical events)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type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description</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900"/>
              </a:spcAft>
              <a:buClr>
                <a:srgbClr val="3C4043"/>
              </a:buClr>
              <a:buSzPts val="1200"/>
              <a:buFont typeface="Calibri"/>
              <a:buChar char="●"/>
            </a:pPr>
            <a:r>
              <a:rPr lang="en-US" sz="1200">
                <a:solidFill>
                  <a:srgbClr val="3C4043"/>
                </a:solidFill>
                <a:latin typeface="Calibri"/>
                <a:ea typeface="Calibri"/>
                <a:cs typeface="Calibri"/>
                <a:sym typeface="Calibri"/>
              </a:rPr>
              <a:t>Event severity score- </a:t>
            </a:r>
            <a:r>
              <a:rPr lang="en-US" sz="1000">
                <a:solidFill>
                  <a:srgbClr val="3C4043"/>
                </a:solidFill>
                <a:latin typeface="Calibri"/>
                <a:ea typeface="Calibri"/>
                <a:cs typeface="Calibri"/>
                <a:sym typeface="Calibri"/>
              </a:rPr>
              <a:t>C</a:t>
            </a:r>
            <a:r>
              <a:rPr lang="en-US" sz="1000">
                <a:solidFill>
                  <a:srgbClr val="001D35"/>
                </a:solidFill>
                <a:highlight>
                  <a:srgbClr val="FFFFFF"/>
                </a:highlight>
                <a:latin typeface="Calibri"/>
                <a:ea typeface="Calibri"/>
                <a:cs typeface="Calibri"/>
                <a:sym typeface="Calibri"/>
              </a:rPr>
              <a:t>lassify the intensity or impact of an incident,</a:t>
            </a:r>
            <a:endParaRPr sz="1000">
              <a:latin typeface="Calibri"/>
              <a:ea typeface="Calibri"/>
              <a:cs typeface="Calibri"/>
              <a:sym typeface="Calibri"/>
            </a:endParaRPr>
          </a:p>
        </p:txBody>
      </p:sp>
      <p:sp>
        <p:nvSpPr>
          <p:cNvPr id="92" name="Google Shape;92;g3d26b78a17e_0_23"/>
          <p:cNvSpPr txBox="1"/>
          <p:nvPr/>
        </p:nvSpPr>
        <p:spPr>
          <a:xfrm>
            <a:off x="115550" y="2443008"/>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Contents:</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7" name="Shape 97"/>
        <p:cNvGrpSpPr/>
        <p:nvPr/>
      </p:nvGrpSpPr>
      <p:grpSpPr>
        <a:xfrm>
          <a:off x="0" y="0"/>
          <a:ext cx="0" cy="0"/>
          <a:chOff x="0" y="0"/>
          <a:chExt cx="0" cy="0"/>
        </a:xfrm>
      </p:grpSpPr>
      <p:sp>
        <p:nvSpPr>
          <p:cNvPr id="98" name="Google Shape;98;g3d4367663e0_1_146"/>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d4367663e0_1_146"/>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Design</a:t>
            </a:r>
            <a:endParaRPr b="0" i="0" sz="2600" u="none" cap="none" strike="noStrike">
              <a:solidFill>
                <a:schemeClr val="dk1"/>
              </a:solidFill>
              <a:latin typeface="Calibri"/>
              <a:ea typeface="Calibri"/>
              <a:cs typeface="Calibri"/>
              <a:sym typeface="Calibri"/>
            </a:endParaRPr>
          </a:p>
        </p:txBody>
      </p:sp>
      <p:sp>
        <p:nvSpPr>
          <p:cNvPr id="100" name="Google Shape;100;g3d4367663e0_1_146"/>
          <p:cNvSpPr txBox="1"/>
          <p:nvPr/>
        </p:nvSpPr>
        <p:spPr>
          <a:xfrm>
            <a:off x="1819769" y="728281"/>
            <a:ext cx="6453900" cy="447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 MART LAYER     </a:t>
            </a:r>
            <a:r>
              <a:rPr lang="en-US" sz="1300">
                <a:solidFill>
                  <a:srgbClr val="3B3B3B"/>
                </a:solidFill>
                <a:latin typeface="Calibri"/>
                <a:ea typeface="Calibri"/>
                <a:cs typeface="Calibri"/>
                <a:sym typeface="Calibri"/>
              </a:rPr>
              <a:t>                   				              </a:t>
            </a:r>
            <a:endParaRPr sz="1300">
              <a:solidFill>
                <a:srgbClr val="3B3B3B"/>
              </a:solidFill>
              <a:latin typeface="Calibri"/>
              <a:ea typeface="Calibri"/>
              <a:cs typeface="Calibri"/>
              <a:sym typeface="Calibri"/>
            </a:endParaRPr>
          </a:p>
          <a:p>
            <a:pPr indent="457200" lvl="0" marL="0" rtl="0" algn="l">
              <a:spcBef>
                <a:spcPts val="0"/>
              </a:spcBef>
              <a:spcAft>
                <a:spcPts val="0"/>
              </a:spcAft>
              <a:buNone/>
            </a:pPr>
            <a:r>
              <a:rPr lang="en-US" sz="1200">
                <a:solidFill>
                  <a:srgbClr val="3B3B3B"/>
                </a:solidFill>
                <a:latin typeface="Calibri"/>
                <a:ea typeface="Calibri"/>
                <a:cs typeface="Calibri"/>
                <a:sym typeface="Calibri"/>
              </a:rPr>
              <a:t>   mart_oil_geopolitics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J</a:t>
            </a:r>
            <a:r>
              <a:rPr lang="en-US" sz="1200">
                <a:solidFill>
                  <a:srgbClr val="3B3B3B"/>
                </a:solidFill>
                <a:latin typeface="Calibri"/>
                <a:ea typeface="Calibri"/>
                <a:cs typeface="Calibri"/>
                <a:sym typeface="Calibri"/>
              </a:rPr>
              <a:t>OIN two staging tables</a:t>
            </a: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(LEFT JOIN stg_oil_prices +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 one row per trading day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b="1" lang="en-US" sz="1200">
                <a:solidFill>
                  <a:srgbClr val="3B3B3B"/>
                </a:solidFill>
                <a:latin typeface="Calibri"/>
                <a:ea typeface="Calibri"/>
                <a:cs typeface="Calibri"/>
                <a:sym typeface="Calibri"/>
              </a:rPr>
              <a:t>                 	        built from</a:t>
            </a:r>
            <a:endParaRPr b="1"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a:t>
            </a: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b="1"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STAGING LAYER                    STAGING LAYER   </a:t>
            </a:r>
            <a:endParaRPr b="1" sz="13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stg_oil_prices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35 rows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cast + clean       		cast + clean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RAW LAYER                      RAW LAYER      </a:t>
            </a:r>
            <a:endParaRPr b="1" sz="13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raw_oil_prices               raw_geo_events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(as loaded)                           (as loaded)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p:txBody>
      </p:sp>
      <p:sp>
        <p:nvSpPr>
          <p:cNvPr id="101" name="Google Shape;101;g3d4367663e0_1_146"/>
          <p:cNvSpPr txBox="1"/>
          <p:nvPr/>
        </p:nvSpPr>
        <p:spPr>
          <a:xfrm>
            <a:off x="1125076" y="403427"/>
            <a:ext cx="5156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rgbClr val="3B3B3B"/>
                </a:solidFill>
                <a:latin typeface="Calibri"/>
                <a:ea typeface="Calibri"/>
                <a:cs typeface="Calibri"/>
                <a:sym typeface="Calibri"/>
              </a:rPr>
              <a:t>                                   Data Model Design</a:t>
            </a:r>
            <a:endParaRPr b="1" sz="1600">
              <a:solidFill>
                <a:srgbClr val="3B3B3B"/>
              </a:solidFill>
              <a:latin typeface="Calibri"/>
              <a:ea typeface="Calibri"/>
              <a:cs typeface="Calibri"/>
              <a:sym typeface="Calibri"/>
            </a:endParaRPr>
          </a:p>
        </p:txBody>
      </p:sp>
      <p:sp>
        <p:nvSpPr>
          <p:cNvPr id="102" name="Google Shape;102;g3d4367663e0_1_146"/>
          <p:cNvSpPr txBox="1"/>
          <p:nvPr/>
        </p:nvSpPr>
        <p:spPr>
          <a:xfrm>
            <a:off x="4884276" y="2936350"/>
            <a:ext cx="3963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rgbClr val="3B3B3B"/>
                </a:solidFill>
                <a:latin typeface="Calibri"/>
                <a:ea typeface="Calibri"/>
                <a:cs typeface="Calibri"/>
                <a:sym typeface="Calibri"/>
              </a:rPr>
              <a:t>-- Cast date string → DATE type cast(date as date) as date</a:t>
            </a:r>
            <a:endParaRPr sz="900">
              <a:solidFill>
                <a:srgbClr val="3B3B3B"/>
              </a:solidFill>
              <a:latin typeface="Calibri"/>
              <a:ea typeface="Calibri"/>
              <a:cs typeface="Calibri"/>
              <a:sym typeface="Calibri"/>
            </a:endParaRPr>
          </a:p>
          <a:p>
            <a:pPr indent="0" lvl="0" marL="0" rtl="0" algn="l">
              <a:spcBef>
                <a:spcPts val="0"/>
              </a:spcBef>
              <a:spcAft>
                <a:spcPts val="0"/>
              </a:spcAft>
              <a:buNone/>
            </a:pPr>
            <a:r>
              <a:rPr lang="en-US" sz="900">
                <a:solidFill>
                  <a:srgbClr val="3B3B3B"/>
                </a:solidFill>
                <a:latin typeface="Calibri"/>
                <a:ea typeface="Calibri"/>
                <a:cs typeface="Calibri"/>
                <a:sym typeface="Calibri"/>
              </a:rPr>
              <a:t>-- Cast price strings → FLOAT64 cast(brent_price as float64) as brent_price</a:t>
            </a:r>
            <a:endParaRPr sz="900">
              <a:solidFill>
                <a:srgbClr val="3B3B3B"/>
              </a:solidFill>
              <a:latin typeface="Calibri"/>
              <a:ea typeface="Calibri"/>
              <a:cs typeface="Calibri"/>
              <a:sym typeface="Calibri"/>
            </a:endParaRPr>
          </a:p>
          <a:p>
            <a:pPr indent="0" lvl="0" marL="0" rtl="0" algn="l">
              <a:spcBef>
                <a:spcPts val="0"/>
              </a:spcBef>
              <a:spcAft>
                <a:spcPts val="0"/>
              </a:spcAft>
              <a:buNone/>
            </a:pPr>
            <a:r>
              <a:rPr lang="en-US" sz="900">
                <a:solidFill>
                  <a:srgbClr val="3B3B3B"/>
                </a:solidFill>
                <a:latin typeface="Calibri"/>
                <a:ea typeface="Calibri"/>
                <a:cs typeface="Calibri"/>
                <a:sym typeface="Calibri"/>
              </a:rPr>
              <a:t>-- Filter out nulls where date is not null</a:t>
            </a:r>
            <a:endParaRPr sz="900">
              <a:solidFill>
                <a:srgbClr val="3B3B3B"/>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7" name="Shape 107"/>
        <p:cNvGrpSpPr/>
        <p:nvPr/>
      </p:nvGrpSpPr>
      <p:grpSpPr>
        <a:xfrm>
          <a:off x="0" y="0"/>
          <a:ext cx="0" cy="0"/>
          <a:chOff x="0" y="0"/>
          <a:chExt cx="0" cy="0"/>
        </a:xfrm>
      </p:grpSpPr>
      <p:sp>
        <p:nvSpPr>
          <p:cNvPr id="108" name="Google Shape;108;g3d26b78a17e_0_62"/>
          <p:cNvSpPr/>
          <p:nvPr/>
        </p:nvSpPr>
        <p:spPr>
          <a:xfrm>
            <a:off x="0" y="0"/>
            <a:ext cx="9144000" cy="4077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g3d26b78a17e_0_62"/>
          <p:cNvGrpSpPr/>
          <p:nvPr/>
        </p:nvGrpSpPr>
        <p:grpSpPr>
          <a:xfrm>
            <a:off x="112965" y="1137457"/>
            <a:ext cx="1463100" cy="1177800"/>
            <a:chOff x="85165" y="1270275"/>
            <a:chExt cx="1463100" cy="1177800"/>
          </a:xfrm>
        </p:grpSpPr>
        <p:sp>
          <p:nvSpPr>
            <p:cNvPr id="110" name="Google Shape;110;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1" name="Google Shape;111;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2" name="Google Shape;112;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chemeClr val="dk1"/>
                  </a:solidFill>
                  <a:latin typeface="Calibri"/>
                  <a:ea typeface="Calibri"/>
                  <a:cs typeface="Calibri"/>
                  <a:sym typeface="Calibri"/>
                </a:rPr>
                <a:t>CSV Files</a:t>
              </a:r>
              <a:endParaRPr b="0" i="0" sz="1200" u="none" cap="none" strike="noStrike">
                <a:solidFill>
                  <a:schemeClr val="dk1"/>
                </a:solidFill>
                <a:latin typeface="Calibri"/>
                <a:ea typeface="Calibri"/>
                <a:cs typeface="Calibri"/>
                <a:sym typeface="Calibri"/>
              </a:endParaRPr>
            </a:p>
          </p:txBody>
        </p:sp>
        <p:sp>
          <p:nvSpPr>
            <p:cNvPr id="113" name="Google Shape;113;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0" i="0" lang="en-US" sz="1200" u="none" cap="none" strike="noStrike">
                  <a:solidFill>
                    <a:schemeClr val="dk1"/>
                  </a:solidFill>
                  <a:latin typeface="Calibri"/>
                  <a:ea typeface="Calibri"/>
                  <a:cs typeface="Calibri"/>
                  <a:sym typeface="Calibri"/>
                </a:rPr>
                <a:t>Kaggle Dataset</a:t>
              </a:r>
              <a:endParaRPr b="0" i="0" sz="1200" u="none" cap="none" strike="noStrike">
                <a:solidFill>
                  <a:schemeClr val="dk1"/>
                </a:solidFill>
                <a:latin typeface="Calibri"/>
                <a:ea typeface="Calibri"/>
                <a:cs typeface="Calibri"/>
                <a:sym typeface="Calibri"/>
              </a:endParaRPr>
            </a:p>
          </p:txBody>
        </p:sp>
      </p:grpSp>
      <p:sp>
        <p:nvSpPr>
          <p:cNvPr id="114" name="Google Shape;114;g3d26b78a17e_0_62"/>
          <p:cNvSpPr/>
          <p:nvPr/>
        </p:nvSpPr>
        <p:spPr>
          <a:xfrm>
            <a:off x="1501350"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 name="Google Shape;115;g3d26b78a17e_0_62"/>
          <p:cNvGrpSpPr/>
          <p:nvPr/>
        </p:nvGrpSpPr>
        <p:grpSpPr>
          <a:xfrm>
            <a:off x="5509009" y="1137457"/>
            <a:ext cx="1463100" cy="1177800"/>
            <a:chOff x="85165" y="1270275"/>
            <a:chExt cx="1463100" cy="1177800"/>
          </a:xfrm>
        </p:grpSpPr>
        <p:sp>
          <p:nvSpPr>
            <p:cNvPr id="116" name="Google Shape;11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7" name="Google Shape;11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8" name="Google Shape;11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BigQuery</a:t>
              </a:r>
              <a:endParaRPr b="1" i="0" sz="1200" u="none" cap="none" strike="noStrike">
                <a:solidFill>
                  <a:schemeClr val="dk1"/>
                </a:solidFill>
                <a:latin typeface="Calibri"/>
                <a:ea typeface="Calibri"/>
                <a:cs typeface="Calibri"/>
                <a:sym typeface="Calibri"/>
              </a:endParaRPr>
            </a:p>
          </p:txBody>
        </p:sp>
        <p:sp>
          <p:nvSpPr>
            <p:cNvPr id="119" name="Google Shape;119;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Data Warehouse</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raw + dw schemas</a:t>
              </a:r>
              <a:endParaRPr sz="1200">
                <a:solidFill>
                  <a:schemeClr val="dk1"/>
                </a:solidFill>
                <a:latin typeface="Calibri"/>
                <a:ea typeface="Calibri"/>
                <a:cs typeface="Calibri"/>
                <a:sym typeface="Calibri"/>
              </a:endParaRPr>
            </a:p>
          </p:txBody>
        </p:sp>
      </p:grpSp>
      <p:grpSp>
        <p:nvGrpSpPr>
          <p:cNvPr id="120" name="Google Shape;120;g3d26b78a17e_0_62"/>
          <p:cNvGrpSpPr/>
          <p:nvPr/>
        </p:nvGrpSpPr>
        <p:grpSpPr>
          <a:xfrm>
            <a:off x="7307690" y="1137457"/>
            <a:ext cx="1463100" cy="1177800"/>
            <a:chOff x="85165" y="1270275"/>
            <a:chExt cx="1463100" cy="1177800"/>
          </a:xfrm>
        </p:grpSpPr>
        <p:sp>
          <p:nvSpPr>
            <p:cNvPr id="121" name="Google Shape;121;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2" name="Google Shape;122;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3" name="Google Shape;123;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dbt</a:t>
              </a:r>
              <a:endParaRPr b="0" i="0" sz="1200" u="none" cap="none" strike="noStrike">
                <a:solidFill>
                  <a:schemeClr val="dk1"/>
                </a:solidFill>
                <a:latin typeface="Calibri"/>
                <a:ea typeface="Calibri"/>
                <a:cs typeface="Calibri"/>
                <a:sym typeface="Calibri"/>
              </a:endParaRPr>
            </a:p>
          </p:txBody>
        </p:sp>
        <p:sp>
          <p:nvSpPr>
            <p:cNvPr id="124" name="Google Shape;124;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Transform</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Schema + Tests</a:t>
              </a:r>
              <a:endParaRPr sz="1200">
                <a:solidFill>
                  <a:schemeClr val="dk1"/>
                </a:solidFill>
                <a:latin typeface="Calibri"/>
                <a:ea typeface="Calibri"/>
                <a:cs typeface="Calibri"/>
                <a:sym typeface="Calibri"/>
              </a:endParaRPr>
            </a:p>
          </p:txBody>
        </p:sp>
      </p:grpSp>
      <p:grpSp>
        <p:nvGrpSpPr>
          <p:cNvPr id="125" name="Google Shape;125;g3d26b78a17e_0_62"/>
          <p:cNvGrpSpPr/>
          <p:nvPr/>
        </p:nvGrpSpPr>
        <p:grpSpPr>
          <a:xfrm>
            <a:off x="3710328" y="1137457"/>
            <a:ext cx="1463100" cy="1177800"/>
            <a:chOff x="85165" y="1270275"/>
            <a:chExt cx="1463100" cy="1177800"/>
          </a:xfrm>
        </p:grpSpPr>
        <p:sp>
          <p:nvSpPr>
            <p:cNvPr id="126" name="Google Shape;12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7" name="Google Shape;12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8" name="Google Shape;12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Meltano</a:t>
              </a:r>
              <a:endParaRPr b="1" sz="1200">
                <a:solidFill>
                  <a:schemeClr val="dk1"/>
                </a:solidFill>
                <a:latin typeface="Calibri"/>
                <a:ea typeface="Calibri"/>
                <a:cs typeface="Calibri"/>
                <a:sym typeface="Calibri"/>
              </a:endParaRPr>
            </a:p>
          </p:txBody>
        </p:sp>
        <p:sp>
          <p:nvSpPr>
            <p:cNvPr id="129" name="Google Shape;129;g3d26b78a17e_0_62"/>
            <p:cNvSpPr/>
            <p:nvPr/>
          </p:nvSpPr>
          <p:spPr>
            <a:xfrm>
              <a:off x="85165" y="1697303"/>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Extract &amp; Load</a:t>
              </a:r>
              <a:endParaRPr sz="95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tap-duckdb → target-bq</a:t>
              </a:r>
              <a:endParaRPr b="1" sz="1200">
                <a:solidFill>
                  <a:schemeClr val="dk1"/>
                </a:solidFill>
                <a:latin typeface="Calibri"/>
                <a:ea typeface="Calibri"/>
                <a:cs typeface="Calibri"/>
                <a:sym typeface="Calibri"/>
              </a:endParaRPr>
            </a:p>
          </p:txBody>
        </p:sp>
      </p:grpSp>
      <p:sp>
        <p:nvSpPr>
          <p:cNvPr id="130" name="Google Shape;130;g3d26b78a17e_0_62"/>
          <p:cNvSpPr/>
          <p:nvPr/>
        </p:nvSpPr>
        <p:spPr>
          <a:xfrm>
            <a:off x="3306232" y="1700707"/>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d26b78a17e_0_62"/>
          <p:cNvSpPr/>
          <p:nvPr/>
        </p:nvSpPr>
        <p:spPr>
          <a:xfrm>
            <a:off x="5111125" y="171143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d26b78a17e_0_62"/>
          <p:cNvSpPr/>
          <p:nvPr/>
        </p:nvSpPr>
        <p:spPr>
          <a:xfrm>
            <a:off x="6916495"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g3d26b78a17e_0_62"/>
          <p:cNvGrpSpPr/>
          <p:nvPr/>
        </p:nvGrpSpPr>
        <p:grpSpPr>
          <a:xfrm>
            <a:off x="1078050" y="2850430"/>
            <a:ext cx="6949500" cy="294600"/>
            <a:chOff x="1097250" y="2606295"/>
            <a:chExt cx="6949500" cy="294600"/>
          </a:xfrm>
        </p:grpSpPr>
        <p:sp>
          <p:nvSpPr>
            <p:cNvPr id="134" name="Google Shape;134;g3d26b78a17e_0_62"/>
            <p:cNvSpPr/>
            <p:nvPr/>
          </p:nvSpPr>
          <p:spPr>
            <a:xfrm>
              <a:off x="1097250" y="2606295"/>
              <a:ext cx="6949500" cy="294600"/>
            </a:xfrm>
            <a:prstGeom prst="rect">
              <a:avLst/>
            </a:prstGeom>
            <a:solidFill>
              <a:srgbClr val="E2E8F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35" name="Google Shape;135;g3d26b78a17e_0_62"/>
            <p:cNvSpPr/>
            <p:nvPr/>
          </p:nvSpPr>
          <p:spPr>
            <a:xfrm>
              <a:off x="1188690" y="2617491"/>
              <a:ext cx="6766500" cy="24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1100"/>
                <a:buFont typeface="Calibri"/>
                <a:buNone/>
              </a:pPr>
              <a:r>
                <a:rPr b="1" i="0" lang="en-US" sz="1200" u="none" cap="none" strike="noStrike">
                  <a:solidFill>
                    <a:schemeClr val="dk1"/>
                  </a:solidFill>
                  <a:latin typeface="Calibri"/>
                  <a:ea typeface="Calibri"/>
                  <a:cs typeface="Calibri"/>
                  <a:sym typeface="Calibri"/>
                </a:rPr>
                <a:t>Dagster Orchestration — schedules, monitors, and logs all pipeline stages</a:t>
              </a:r>
              <a:endParaRPr b="0" i="0" sz="1200" u="none" cap="none" strike="noStrike">
                <a:solidFill>
                  <a:schemeClr val="dk1"/>
                </a:solidFill>
                <a:latin typeface="Calibri"/>
                <a:ea typeface="Calibri"/>
                <a:cs typeface="Calibri"/>
                <a:sym typeface="Calibri"/>
              </a:endParaRPr>
            </a:p>
          </p:txBody>
        </p:sp>
      </p:grpSp>
      <p:grpSp>
        <p:nvGrpSpPr>
          <p:cNvPr id="136" name="Google Shape;136;g3d26b78a17e_0_62"/>
          <p:cNvGrpSpPr/>
          <p:nvPr/>
        </p:nvGrpSpPr>
        <p:grpSpPr>
          <a:xfrm>
            <a:off x="1911646" y="1137457"/>
            <a:ext cx="1463100" cy="1177800"/>
            <a:chOff x="85165" y="1270275"/>
            <a:chExt cx="1463100" cy="1177800"/>
          </a:xfrm>
        </p:grpSpPr>
        <p:sp>
          <p:nvSpPr>
            <p:cNvPr id="137" name="Google Shape;137;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38" name="Google Shape;138;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39" name="Google Shape;139;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DuckDB</a:t>
              </a:r>
              <a:endParaRPr sz="1200">
                <a:solidFill>
                  <a:schemeClr val="dk1"/>
                </a:solidFill>
                <a:latin typeface="Calibri"/>
                <a:ea typeface="Calibri"/>
                <a:cs typeface="Calibri"/>
                <a:sym typeface="Calibri"/>
              </a:endParaRPr>
            </a:p>
          </p:txBody>
        </p:sp>
        <p:sp>
          <p:nvSpPr>
            <p:cNvPr id="140" name="Google Shape;140;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Local Staging</a:t>
              </a:r>
              <a:endParaRPr sz="120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&amp; Validation</a:t>
              </a:r>
              <a:endParaRPr sz="1200">
                <a:solidFill>
                  <a:schemeClr val="dk1"/>
                </a:solidFill>
                <a:latin typeface="Calibri"/>
                <a:ea typeface="Calibri"/>
                <a:cs typeface="Calibri"/>
                <a:sym typeface="Calibri"/>
              </a:endParaRPr>
            </a:p>
          </p:txBody>
        </p:sp>
      </p:grpSp>
      <p:sp>
        <p:nvSpPr>
          <p:cNvPr id="141" name="Google Shape;141;g3d26b78a17e_0_62"/>
          <p:cNvSpPr/>
          <p:nvPr/>
        </p:nvSpPr>
        <p:spPr>
          <a:xfrm>
            <a:off x="172700" y="-18903"/>
            <a:ext cx="8229600" cy="44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300" u="none" cap="none" strike="noStrike">
                <a:solidFill>
                  <a:schemeClr val="lt1"/>
                </a:solidFill>
                <a:latin typeface="Calibri"/>
                <a:ea typeface="Calibri"/>
                <a:cs typeface="Calibri"/>
                <a:sym typeface="Calibri"/>
              </a:rPr>
              <a:t>Solution Architecture</a:t>
            </a:r>
            <a:endParaRPr b="1" i="0" sz="2300" u="none" cap="none" strike="noStrike">
              <a:solidFill>
                <a:schemeClr val="lt1"/>
              </a:solidFill>
              <a:latin typeface="Calibri"/>
              <a:ea typeface="Calibri"/>
              <a:cs typeface="Calibri"/>
              <a:sym typeface="Calibri"/>
            </a:endParaRPr>
          </a:p>
        </p:txBody>
      </p:sp>
      <p:grpSp>
        <p:nvGrpSpPr>
          <p:cNvPr id="142" name="Google Shape;142;g3d26b78a17e_0_62"/>
          <p:cNvGrpSpPr/>
          <p:nvPr/>
        </p:nvGrpSpPr>
        <p:grpSpPr>
          <a:xfrm>
            <a:off x="2999332" y="3688425"/>
            <a:ext cx="2711365" cy="1177800"/>
            <a:chOff x="134149" y="1270275"/>
            <a:chExt cx="1339276" cy="1177800"/>
          </a:xfrm>
        </p:grpSpPr>
        <p:sp>
          <p:nvSpPr>
            <p:cNvPr id="143" name="Google Shape;143;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4" name="Google Shape;144;g3d26b78a17e_0_62"/>
            <p:cNvSpPr/>
            <p:nvPr/>
          </p:nvSpPr>
          <p:spPr>
            <a:xfrm>
              <a:off x="134149" y="1270275"/>
              <a:ext cx="1313400" cy="36300"/>
            </a:xfrm>
            <a:prstGeom prst="rect">
              <a:avLst/>
            </a:prstGeom>
            <a:solidFill>
              <a:srgbClr val="1C4587"/>
            </a:solidFill>
            <a:ln cap="flat" cmpd="sng" w="6275">
              <a:solidFill>
                <a:srgbClr val="1C4587"/>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grpSp>
      <p:sp>
        <p:nvSpPr>
          <p:cNvPr id="145" name="Google Shape;145;g3d26b78a17e_0_62"/>
          <p:cNvSpPr/>
          <p:nvPr/>
        </p:nvSpPr>
        <p:spPr>
          <a:xfrm>
            <a:off x="3653965" y="396746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Jupyter</a:t>
            </a:r>
            <a:endParaRPr b="1" sz="1200">
              <a:solidFill>
                <a:schemeClr val="dk1"/>
              </a:solidFill>
              <a:latin typeface="Calibri"/>
              <a:ea typeface="Calibri"/>
              <a:cs typeface="Calibri"/>
              <a:sym typeface="Calibri"/>
            </a:endParaRPr>
          </a:p>
        </p:txBody>
      </p:sp>
      <p:sp>
        <p:nvSpPr>
          <p:cNvPr id="146" name="Google Shape;146;g3d26b78a17e_0_62"/>
          <p:cNvSpPr/>
          <p:nvPr/>
        </p:nvSpPr>
        <p:spPr>
          <a:xfrm>
            <a:off x="3599711" y="3962305"/>
            <a:ext cx="17397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Reporting and Analysis</a:t>
            </a:r>
            <a:endParaRPr b="0" i="0" sz="1200" u="none" cap="none" strike="noStrike">
              <a:solidFill>
                <a:schemeClr val="dk1"/>
              </a:solidFill>
              <a:latin typeface="Calibri"/>
              <a:ea typeface="Calibri"/>
              <a:cs typeface="Calibri"/>
              <a:sym typeface="Calibri"/>
            </a:endParaRPr>
          </a:p>
        </p:txBody>
      </p:sp>
      <p:sp>
        <p:nvSpPr>
          <p:cNvPr id="147" name="Google Shape;147;g3d26b78a17e_0_62"/>
          <p:cNvSpPr txBox="1"/>
          <p:nvPr/>
        </p:nvSpPr>
        <p:spPr>
          <a:xfrm>
            <a:off x="2041962" y="2037207"/>
            <a:ext cx="1653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rPr>
              <a:t>(local SQL engine)</a:t>
            </a:r>
            <a:endParaRPr sz="1000">
              <a:solidFill>
                <a:schemeClr val="dk1"/>
              </a:solidFill>
              <a:highlight>
                <a:srgbClr val="FFFFFF"/>
              </a:highlight>
            </a:endParaRPr>
          </a:p>
        </p:txBody>
      </p:sp>
      <p:sp>
        <p:nvSpPr>
          <p:cNvPr id="148" name="Google Shape;148;g3d26b78a17e_0_62"/>
          <p:cNvSpPr txBox="1"/>
          <p:nvPr/>
        </p:nvSpPr>
        <p:spPr>
          <a:xfrm>
            <a:off x="3728303" y="2049979"/>
            <a:ext cx="1463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latin typeface="Calibri"/>
                <a:ea typeface="Calibri"/>
                <a:cs typeface="Calibri"/>
                <a:sym typeface="Calibri"/>
              </a:rPr>
              <a:t>(Singer tap and target) </a:t>
            </a:r>
            <a:endParaRPr sz="10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53" name="Shape 153"/>
        <p:cNvGrpSpPr/>
        <p:nvPr/>
      </p:nvGrpSpPr>
      <p:grpSpPr>
        <a:xfrm>
          <a:off x="0" y="0"/>
          <a:ext cx="0" cy="0"/>
          <a:chOff x="0" y="0"/>
          <a:chExt cx="0" cy="0"/>
        </a:xfrm>
      </p:grpSpPr>
      <p:sp>
        <p:nvSpPr>
          <p:cNvPr id="154" name="Google Shape;154;p9"/>
          <p:cNvSpPr/>
          <p:nvPr/>
        </p:nvSpPr>
        <p:spPr>
          <a:xfrm>
            <a:off x="0" y="2437"/>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365760" y="914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a:t>
            </a:r>
            <a:r>
              <a:rPr b="1" lang="en-US" sz="2400">
                <a:solidFill>
                  <a:srgbClr val="FFFFFF"/>
                </a:solidFill>
                <a:latin typeface="Calibri"/>
                <a:ea typeface="Calibri"/>
                <a:cs typeface="Calibri"/>
                <a:sym typeface="Calibri"/>
              </a:rPr>
              <a:t>k</a:t>
            </a:r>
            <a:endParaRPr b="0" i="0" sz="2400" u="none" cap="none" strike="noStrike">
              <a:solidFill>
                <a:schemeClr val="dk1"/>
              </a:solidFill>
              <a:latin typeface="Calibri"/>
              <a:ea typeface="Calibri"/>
              <a:cs typeface="Calibri"/>
              <a:sym typeface="Calibri"/>
            </a:endParaRPr>
          </a:p>
        </p:txBody>
      </p:sp>
      <p:sp>
        <p:nvSpPr>
          <p:cNvPr id="156" name="Google Shape;156;p9"/>
          <p:cNvSpPr/>
          <p:nvPr/>
        </p:nvSpPr>
        <p:spPr>
          <a:xfrm>
            <a:off x="274320" y="1832615"/>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57" name="Google Shape;157;p9"/>
          <p:cNvSpPr/>
          <p:nvPr/>
        </p:nvSpPr>
        <p:spPr>
          <a:xfrm>
            <a:off x="274320" y="185423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58" name="Google Shape;158;p9"/>
          <p:cNvSpPr/>
          <p:nvPr/>
        </p:nvSpPr>
        <p:spPr>
          <a:xfrm>
            <a:off x="1645920" y="1898498"/>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DuckDB- </a:t>
            </a:r>
            <a:r>
              <a:rPr lang="en-US" sz="1200">
                <a:solidFill>
                  <a:srgbClr val="3B3B3B"/>
                </a:solidFill>
                <a:latin typeface="Calibri"/>
                <a:ea typeface="Calibri"/>
                <a:cs typeface="Calibri"/>
                <a:sym typeface="Calibri"/>
              </a:rPr>
              <a:t>&gt;=1.1.0</a:t>
            </a:r>
            <a:endParaRPr b="1" sz="1200">
              <a:solidFill>
                <a:srgbClr val="0F3460"/>
              </a:solidFill>
              <a:latin typeface="Calibri"/>
              <a:ea typeface="Calibri"/>
              <a:cs typeface="Calibri"/>
              <a:sym typeface="Calibri"/>
            </a:endParaRPr>
          </a:p>
        </p:txBody>
      </p:sp>
      <p:sp>
        <p:nvSpPr>
          <p:cNvPr id="159" name="Google Shape;159;p9"/>
          <p:cNvSpPr/>
          <p:nvPr/>
        </p:nvSpPr>
        <p:spPr>
          <a:xfrm>
            <a:off x="3062600" y="1624736"/>
            <a:ext cx="6012900" cy="7773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Local </a:t>
            </a:r>
            <a:r>
              <a:rPr b="1" lang="en-US" sz="1200">
                <a:solidFill>
                  <a:srgbClr val="3B3B3B"/>
                </a:solidFill>
                <a:latin typeface="Calibri"/>
                <a:ea typeface="Calibri"/>
                <a:cs typeface="Calibri"/>
                <a:sym typeface="Calibri"/>
              </a:rPr>
              <a:t>ingestion</a:t>
            </a:r>
            <a:r>
              <a:rPr lang="en-US" sz="1200">
                <a:solidFill>
                  <a:srgbClr val="3B3B3B"/>
                </a:solidFill>
                <a:latin typeface="Calibri"/>
                <a:ea typeface="Calibri"/>
                <a:cs typeface="Calibri"/>
                <a:sym typeface="Calibri"/>
              </a:rPr>
              <a:t> </a:t>
            </a:r>
            <a:r>
              <a:rPr lang="en-US" sz="1200">
                <a:solidFill>
                  <a:schemeClr val="dk1"/>
                </a:solidFill>
                <a:latin typeface="Calibri"/>
                <a:ea typeface="Calibri"/>
                <a:cs typeface="Calibri"/>
                <a:sym typeface="Calibri"/>
              </a:rPr>
              <a:t>data warehouse, validation before cloud, ensured data quality before cloud transfer and cost.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Ingested both CSVs into a lightweight local database for fast querying before cloud load.</a:t>
            </a:r>
            <a:endParaRPr sz="1200">
              <a:solidFill>
                <a:srgbClr val="1A1A2E"/>
              </a:solidFill>
              <a:latin typeface="Calibri"/>
              <a:ea typeface="Calibri"/>
              <a:cs typeface="Calibri"/>
              <a:sym typeface="Calibri"/>
            </a:endParaRPr>
          </a:p>
        </p:txBody>
      </p:sp>
      <p:sp>
        <p:nvSpPr>
          <p:cNvPr id="160" name="Google Shape;160;p9"/>
          <p:cNvSpPr/>
          <p:nvPr/>
        </p:nvSpPr>
        <p:spPr>
          <a:xfrm>
            <a:off x="274320" y="254376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1" name="Google Shape;161;p9"/>
          <p:cNvSpPr/>
          <p:nvPr/>
        </p:nvSpPr>
        <p:spPr>
          <a:xfrm>
            <a:off x="274320" y="281899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2" name="Google Shape;162;p9"/>
          <p:cNvSpPr/>
          <p:nvPr/>
        </p:nvSpPr>
        <p:spPr>
          <a:xfrm>
            <a:off x="274320" y="2789687"/>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Extract/Load</a:t>
            </a:r>
            <a:endParaRPr i="0" sz="1200" u="none" cap="none" strike="noStrike">
              <a:solidFill>
                <a:schemeClr val="dk1"/>
              </a:solidFill>
              <a:latin typeface="Calibri"/>
              <a:ea typeface="Calibri"/>
              <a:cs typeface="Calibri"/>
              <a:sym typeface="Calibri"/>
            </a:endParaRPr>
          </a:p>
        </p:txBody>
      </p:sp>
      <p:sp>
        <p:nvSpPr>
          <p:cNvPr id="163" name="Google Shape;163;p9"/>
          <p:cNvSpPr/>
          <p:nvPr/>
        </p:nvSpPr>
        <p:spPr>
          <a:xfrm>
            <a:off x="1645920" y="282626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Meltano </a:t>
            </a:r>
            <a:r>
              <a:rPr lang="en-US" sz="1200">
                <a:solidFill>
                  <a:srgbClr val="3B3B3B"/>
                </a:solidFill>
                <a:latin typeface="Calibri"/>
                <a:ea typeface="Calibri"/>
                <a:cs typeface="Calibri"/>
                <a:sym typeface="Calibri"/>
              </a:rPr>
              <a:t>4.1.2</a:t>
            </a:r>
            <a:endParaRPr b="1" sz="1200">
              <a:solidFill>
                <a:srgbClr val="0F3460"/>
              </a:solidFill>
              <a:latin typeface="Calibri"/>
              <a:ea typeface="Calibri"/>
              <a:cs typeface="Calibri"/>
              <a:sym typeface="Calibri"/>
            </a:endParaRPr>
          </a:p>
        </p:txBody>
      </p:sp>
      <p:sp>
        <p:nvSpPr>
          <p:cNvPr id="164" name="Google Shape;164;p9"/>
          <p:cNvSpPr/>
          <p:nvPr/>
        </p:nvSpPr>
        <p:spPr>
          <a:xfrm>
            <a:off x="3038625" y="2734520"/>
            <a:ext cx="6012900" cy="5943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EL — tap-csv → target-bigquery</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Extractor</a:t>
            </a:r>
            <a:r>
              <a:rPr lang="en-US" sz="1200">
                <a:solidFill>
                  <a:schemeClr val="dk1"/>
                </a:solidFill>
                <a:latin typeface="Calibri"/>
                <a:ea typeface="Calibri"/>
                <a:cs typeface="Calibri"/>
                <a:sym typeface="Calibri"/>
              </a:rPr>
              <a:t>: tap-csv (meltanolabs) 1.2.0; Singer tap — reads CSV as streams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Loader</a:t>
            </a:r>
            <a:r>
              <a:rPr lang="en-US" sz="1200">
                <a:solidFill>
                  <a:schemeClr val="dk1"/>
                </a:solidFill>
                <a:latin typeface="Calibri"/>
                <a:ea typeface="Calibri"/>
                <a:cs typeface="Calibri"/>
                <a:sym typeface="Calibri"/>
              </a:rPr>
              <a:t>: target-bigquery (z3z1ma)- Singer target — writes to BigQuery</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5" name="Google Shape;165;p9"/>
          <p:cNvSpPr/>
          <p:nvPr/>
        </p:nvSpPr>
        <p:spPr>
          <a:xfrm>
            <a:off x="274320" y="3388179"/>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grpSp>
        <p:nvGrpSpPr>
          <p:cNvPr id="166" name="Google Shape;166;p9"/>
          <p:cNvGrpSpPr/>
          <p:nvPr/>
        </p:nvGrpSpPr>
        <p:grpSpPr>
          <a:xfrm>
            <a:off x="274320" y="3754818"/>
            <a:ext cx="1234500" cy="439650"/>
            <a:chOff x="274320" y="2066544"/>
            <a:chExt cx="1234500" cy="439650"/>
          </a:xfrm>
        </p:grpSpPr>
        <p:sp>
          <p:nvSpPr>
            <p:cNvPr id="167" name="Google Shape;167;p9"/>
            <p:cNvSpPr/>
            <p:nvPr/>
          </p:nvSpPr>
          <p:spPr>
            <a:xfrm>
              <a:off x="274320" y="206654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8" name="Google Shape;168;p9"/>
            <p:cNvSpPr/>
            <p:nvPr/>
          </p:nvSpPr>
          <p:spPr>
            <a:xfrm>
              <a:off x="274320" y="2085594"/>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Warehouse</a:t>
              </a:r>
              <a:endParaRPr i="0" sz="1200" u="none" cap="none" strike="noStrike">
                <a:solidFill>
                  <a:schemeClr val="dk1"/>
                </a:solidFill>
                <a:latin typeface="Calibri"/>
                <a:ea typeface="Calibri"/>
                <a:cs typeface="Calibri"/>
                <a:sym typeface="Calibri"/>
              </a:endParaRPr>
            </a:p>
          </p:txBody>
        </p:sp>
      </p:grpSp>
      <p:sp>
        <p:nvSpPr>
          <p:cNvPr id="169" name="Google Shape;169;p9"/>
          <p:cNvSpPr/>
          <p:nvPr/>
        </p:nvSpPr>
        <p:spPr>
          <a:xfrm>
            <a:off x="1645920" y="376721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BigQuery</a:t>
            </a:r>
            <a:endParaRPr i="0" sz="1200" u="none" cap="none" strike="noStrike">
              <a:solidFill>
                <a:schemeClr val="dk1"/>
              </a:solidFill>
              <a:latin typeface="Calibri"/>
              <a:ea typeface="Calibri"/>
              <a:cs typeface="Calibri"/>
              <a:sym typeface="Calibri"/>
            </a:endParaRPr>
          </a:p>
        </p:txBody>
      </p:sp>
      <p:sp>
        <p:nvSpPr>
          <p:cNvPr id="170" name="Google Shape;170;p9"/>
          <p:cNvSpPr/>
          <p:nvPr/>
        </p:nvSpPr>
        <p:spPr>
          <a:xfrm>
            <a:off x="3084825" y="3524709"/>
            <a:ext cx="6012900" cy="12084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SzPts val="1200"/>
              <a:buFont typeface="Calibri"/>
              <a:buChar char="●"/>
            </a:pPr>
            <a:r>
              <a:rPr b="1" lang="en-US" sz="1200">
                <a:solidFill>
                  <a:srgbClr val="3B3B3B"/>
                </a:solidFill>
                <a:latin typeface="Calibri"/>
                <a:ea typeface="Calibri"/>
                <a:cs typeface="Calibri"/>
                <a:sym typeface="Calibri"/>
              </a:rPr>
              <a:t>Could warehouse </a:t>
            </a:r>
            <a:r>
              <a:rPr lang="en-US" sz="1200">
                <a:solidFill>
                  <a:schemeClr val="dk1"/>
                </a:solidFill>
                <a:latin typeface="Calibri"/>
                <a:ea typeface="Calibri"/>
                <a:cs typeface="Calibri"/>
                <a:sym typeface="Calibri"/>
              </a:rPr>
              <a:t>→ </a:t>
            </a:r>
            <a:r>
              <a:rPr lang="en-US" sz="1200">
                <a:solidFill>
                  <a:srgbClr val="3B3B3B"/>
                </a:solidFill>
                <a:latin typeface="Calibri"/>
                <a:ea typeface="Calibri"/>
                <a:cs typeface="Calibri"/>
                <a:sym typeface="Calibri"/>
              </a:rPr>
              <a:t>Google BigQuery- Central analytical data store</a:t>
            </a:r>
            <a:endParaRPr sz="1200">
              <a:solidFill>
                <a:srgbClr val="3B3B3B"/>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Stored raw tables (raw_oil_prices, raw_geo_events) and served as the central data store</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Cloud data warehouse. provided scalable storage for cross-table analysis.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i="0" lang="en-US" sz="1200" u="none" cap="none" strike="noStrike">
                <a:solidFill>
                  <a:srgbClr val="1A1A2E"/>
                </a:solidFill>
                <a:latin typeface="Calibri"/>
                <a:ea typeface="Calibri"/>
                <a:cs typeface="Calibri"/>
                <a:sym typeface="Calibri"/>
              </a:rPr>
              <a:t>Serverless, auto-scaling, pay-per-query; native dbt &amp; Dagster integrations</a:t>
            </a:r>
            <a:r>
              <a:rPr lang="en-US" sz="1200">
                <a:solidFill>
                  <a:srgbClr val="1A1A2E"/>
                </a:solidFill>
                <a:latin typeface="Calibri"/>
                <a:ea typeface="Calibri"/>
                <a:cs typeface="Calibri"/>
                <a:sym typeface="Calibri"/>
              </a:rPr>
              <a:t>. </a:t>
            </a:r>
            <a:r>
              <a:rPr lang="en-US" sz="1200">
                <a:solidFill>
                  <a:schemeClr val="dk1"/>
                </a:solidFill>
                <a:latin typeface="Calibri"/>
                <a:ea typeface="Calibri"/>
                <a:cs typeface="Calibri"/>
                <a:sym typeface="Calibri"/>
              </a:rPr>
              <a:t>Stored raw tables (raw_oil_prices, raw_geo_events) and served as the central data store. </a:t>
            </a:r>
            <a:endParaRPr sz="1200">
              <a:solidFill>
                <a:srgbClr val="1A1A2E"/>
              </a:solidFill>
              <a:latin typeface="Calibri"/>
              <a:ea typeface="Calibri"/>
              <a:cs typeface="Calibri"/>
              <a:sym typeface="Calibri"/>
            </a:endParaRPr>
          </a:p>
        </p:txBody>
      </p:sp>
      <p:sp>
        <p:nvSpPr>
          <p:cNvPr id="171" name="Google Shape;171;p9"/>
          <p:cNvSpPr/>
          <p:nvPr/>
        </p:nvSpPr>
        <p:spPr>
          <a:xfrm>
            <a:off x="274320" y="1468694"/>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72" name="Google Shape;172;p9"/>
          <p:cNvSpPr/>
          <p:nvPr/>
        </p:nvSpPr>
        <p:spPr>
          <a:xfrm>
            <a:off x="8412480" y="4690644"/>
            <a:ext cx="5487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12</a:t>
            </a:r>
            <a:endParaRPr b="0" i="0" sz="900" u="none" cap="none" strike="noStrike">
              <a:solidFill>
                <a:schemeClr val="dk1"/>
              </a:solidFill>
              <a:latin typeface="Calibri"/>
              <a:ea typeface="Calibri"/>
              <a:cs typeface="Calibri"/>
              <a:sym typeface="Calibri"/>
            </a:endParaRPr>
          </a:p>
        </p:txBody>
      </p:sp>
      <p:sp>
        <p:nvSpPr>
          <p:cNvPr id="173" name="Google Shape;173;p9"/>
          <p:cNvSpPr/>
          <p:nvPr/>
        </p:nvSpPr>
        <p:spPr>
          <a:xfrm>
            <a:off x="101182" y="89515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74" name="Google Shape;174;p9"/>
          <p:cNvSpPr/>
          <p:nvPr/>
        </p:nvSpPr>
        <p:spPr>
          <a:xfrm>
            <a:off x="1619320" y="961042"/>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CSV Files</a:t>
            </a:r>
            <a:endParaRPr i="0" sz="1200" u="none" cap="none" strike="noStrike">
              <a:solidFill>
                <a:schemeClr val="dk1"/>
              </a:solidFill>
              <a:latin typeface="Calibri"/>
              <a:ea typeface="Calibri"/>
              <a:cs typeface="Calibri"/>
              <a:sym typeface="Calibri"/>
            </a:endParaRPr>
          </a:p>
        </p:txBody>
      </p:sp>
      <p:sp>
        <p:nvSpPr>
          <p:cNvPr id="175" name="Google Shape;175;p9"/>
          <p:cNvSpPr/>
          <p:nvPr/>
        </p:nvSpPr>
        <p:spPr>
          <a:xfrm>
            <a:off x="3094833" y="902207"/>
            <a:ext cx="6398400" cy="4206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Raw oil prices + geopolitical events</a:t>
            </a:r>
            <a:endParaRPr sz="1200">
              <a:solidFill>
                <a:schemeClr val="dk1"/>
              </a:solidFill>
              <a:latin typeface="Calibri"/>
              <a:ea typeface="Calibri"/>
              <a:cs typeface="Calibri"/>
              <a:sym typeface="Calibri"/>
            </a:endParaRPr>
          </a:p>
        </p:txBody>
      </p:sp>
      <p:sp>
        <p:nvSpPr>
          <p:cNvPr id="176" name="Google Shape;176;p9"/>
          <p:cNvSpPr/>
          <p:nvPr/>
        </p:nvSpPr>
        <p:spPr>
          <a:xfrm>
            <a:off x="291333" y="932233"/>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77" name="Google Shape;177;p9"/>
          <p:cNvSpPr/>
          <p:nvPr/>
        </p:nvSpPr>
        <p:spPr>
          <a:xfrm>
            <a:off x="318282" y="926090"/>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Source</a:t>
            </a:r>
            <a:endParaRPr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2" name="Shape 182"/>
        <p:cNvGrpSpPr/>
        <p:nvPr/>
      </p:nvGrpSpPr>
      <p:grpSpPr>
        <a:xfrm>
          <a:off x="0" y="0"/>
          <a:ext cx="0" cy="0"/>
          <a:chOff x="0" y="0"/>
          <a:chExt cx="0" cy="0"/>
        </a:xfrm>
      </p:grpSpPr>
      <p:sp>
        <p:nvSpPr>
          <p:cNvPr id="183" name="Google Shape;183;g3d4367663e0_1_54"/>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4367663e0_1_54"/>
          <p:cNvSpPr/>
          <p:nvPr/>
        </p:nvSpPr>
        <p:spPr>
          <a:xfrm>
            <a:off x="365760"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Stack </a:t>
            </a:r>
            <a:endParaRPr b="0" i="0" sz="2400" u="none" cap="none" strike="noStrike">
              <a:solidFill>
                <a:schemeClr val="dk1"/>
              </a:solidFill>
              <a:latin typeface="Calibri"/>
              <a:ea typeface="Calibri"/>
              <a:cs typeface="Calibri"/>
              <a:sym typeface="Calibri"/>
            </a:endParaRPr>
          </a:p>
        </p:txBody>
      </p:sp>
      <p:grpSp>
        <p:nvGrpSpPr>
          <p:cNvPr id="185" name="Google Shape;185;g3d4367663e0_1_54"/>
          <p:cNvGrpSpPr/>
          <p:nvPr/>
        </p:nvGrpSpPr>
        <p:grpSpPr>
          <a:xfrm>
            <a:off x="274320" y="1046080"/>
            <a:ext cx="1234500" cy="435937"/>
            <a:chOff x="274320" y="2766441"/>
            <a:chExt cx="1234500" cy="435937"/>
          </a:xfrm>
        </p:grpSpPr>
        <p:sp>
          <p:nvSpPr>
            <p:cNvPr id="186" name="Google Shape;186;g3d4367663e0_1_54"/>
            <p:cNvSpPr/>
            <p:nvPr/>
          </p:nvSpPr>
          <p:spPr>
            <a:xfrm>
              <a:off x="274320" y="2766441"/>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87" name="Google Shape;187;g3d4367663e0_1_54"/>
            <p:cNvSpPr/>
            <p:nvPr/>
          </p:nvSpPr>
          <p:spPr>
            <a:xfrm>
              <a:off x="274320" y="278177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Transform</a:t>
              </a:r>
              <a:endParaRPr i="0" sz="1200" u="none" cap="none" strike="noStrike">
                <a:solidFill>
                  <a:schemeClr val="dk1"/>
                </a:solidFill>
                <a:latin typeface="Calibri"/>
                <a:ea typeface="Calibri"/>
                <a:cs typeface="Calibri"/>
                <a:sym typeface="Calibri"/>
              </a:endParaRPr>
            </a:p>
          </p:txBody>
        </p:sp>
      </p:grpSp>
      <p:sp>
        <p:nvSpPr>
          <p:cNvPr id="188" name="Google Shape;188;g3d4367663e0_1_54"/>
          <p:cNvSpPr/>
          <p:nvPr/>
        </p:nvSpPr>
        <p:spPr>
          <a:xfrm>
            <a:off x="1645920" y="1073131"/>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dbt </a:t>
            </a:r>
            <a:r>
              <a:rPr lang="en-US" sz="1000">
                <a:solidFill>
                  <a:srgbClr val="3B3B3B"/>
                </a:solidFill>
                <a:latin typeface="Roboto"/>
                <a:ea typeface="Roboto"/>
                <a:cs typeface="Roboto"/>
                <a:sym typeface="Roboto"/>
              </a:rPr>
              <a:t>1.11.7</a:t>
            </a:r>
            <a:endParaRPr b="1" sz="1200">
              <a:solidFill>
                <a:srgbClr val="0F3460"/>
              </a:solidFill>
              <a:latin typeface="Calibri"/>
              <a:ea typeface="Calibri"/>
              <a:cs typeface="Calibri"/>
              <a:sym typeface="Calibri"/>
            </a:endParaRPr>
          </a:p>
        </p:txBody>
      </p:sp>
      <p:sp>
        <p:nvSpPr>
          <p:cNvPr id="189" name="Google Shape;189;g3d4367663e0_1_54"/>
          <p:cNvSpPr/>
          <p:nvPr/>
        </p:nvSpPr>
        <p:spPr>
          <a:xfrm>
            <a:off x="2866275" y="568550"/>
            <a:ext cx="6003300" cy="132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rgbClr val="1A1A2E"/>
              </a:solidFill>
              <a:latin typeface="Calibri"/>
              <a:ea typeface="Calibri"/>
              <a:cs typeface="Calibri"/>
              <a:sym typeface="Calibri"/>
            </a:endParaRPr>
          </a:p>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dbt-bigquery-&gt; SQL-based staging + mart models</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solidFill>
                  <a:schemeClr val="dk1"/>
                </a:solidFill>
                <a:latin typeface="Calibri"/>
                <a:ea typeface="Calibri"/>
                <a:cs typeface="Calibri"/>
                <a:sym typeface="Calibri"/>
              </a:rPr>
              <a:t>Data transformation: </a:t>
            </a:r>
            <a:r>
              <a:rPr i="0" lang="en-US" sz="1200" u="none" cap="none" strike="noStrike">
                <a:solidFill>
                  <a:srgbClr val="1A1A2E"/>
                </a:solidFill>
                <a:latin typeface="Calibri"/>
                <a:ea typeface="Calibri"/>
                <a:cs typeface="Calibri"/>
                <a:sym typeface="Calibri"/>
              </a:rPr>
              <a:t> built-in testing, docs, and lineage DAGs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latin typeface="Calibri"/>
                <a:ea typeface="Calibri"/>
                <a:cs typeface="Calibri"/>
                <a:sym typeface="Calibri"/>
              </a:rPr>
              <a:t>E</a:t>
            </a:r>
            <a:r>
              <a:rPr lang="en-US" sz="1200">
                <a:latin typeface="Calibri"/>
                <a:ea typeface="Calibri"/>
                <a:cs typeface="Calibri"/>
                <a:sym typeface="Calibri"/>
              </a:rPr>
              <a:t>nforced data consistency and created the analytical joinCreated cleaned staging views and a joined mart table (mart_oil_geopolitics) combining oil prices with geopolitical events by date that unlocked findings 1, 3, and 4.</a:t>
            </a:r>
            <a:endParaRPr sz="1200">
              <a:solidFill>
                <a:srgbClr val="1A1A2E"/>
              </a:solidFill>
              <a:latin typeface="Calibri"/>
              <a:ea typeface="Calibri"/>
              <a:cs typeface="Calibri"/>
              <a:sym typeface="Calibri"/>
            </a:endParaRPr>
          </a:p>
        </p:txBody>
      </p:sp>
      <p:sp>
        <p:nvSpPr>
          <p:cNvPr id="190" name="Google Shape;190;g3d4367663e0_1_54"/>
          <p:cNvSpPr/>
          <p:nvPr/>
        </p:nvSpPr>
        <p:spPr>
          <a:xfrm>
            <a:off x="274320" y="1849807"/>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1" name="Google Shape;191;g3d4367663e0_1_54"/>
          <p:cNvSpPr/>
          <p:nvPr/>
        </p:nvSpPr>
        <p:spPr>
          <a:xfrm>
            <a:off x="274320" y="1981589"/>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2" name="Google Shape;192;g3d4367663e0_1_54"/>
          <p:cNvSpPr/>
          <p:nvPr/>
        </p:nvSpPr>
        <p:spPr>
          <a:xfrm>
            <a:off x="274320" y="195660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Orchestration</a:t>
            </a:r>
            <a:endParaRPr i="0" sz="1200" u="none" cap="none" strike="noStrike">
              <a:solidFill>
                <a:schemeClr val="dk1"/>
              </a:solidFill>
              <a:latin typeface="Calibri"/>
              <a:ea typeface="Calibri"/>
              <a:cs typeface="Calibri"/>
              <a:sym typeface="Calibri"/>
            </a:endParaRPr>
          </a:p>
        </p:txBody>
      </p:sp>
      <p:sp>
        <p:nvSpPr>
          <p:cNvPr id="193" name="Google Shape;193;g3d4367663e0_1_54"/>
          <p:cNvSpPr/>
          <p:nvPr/>
        </p:nvSpPr>
        <p:spPr>
          <a:xfrm>
            <a:off x="1645920" y="2050334"/>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Dagster </a:t>
            </a:r>
            <a:r>
              <a:rPr lang="en-US" sz="1000">
                <a:solidFill>
                  <a:srgbClr val="3B3B3B"/>
                </a:solidFill>
                <a:latin typeface="Roboto"/>
                <a:ea typeface="Roboto"/>
                <a:cs typeface="Roboto"/>
                <a:sym typeface="Roboto"/>
              </a:rPr>
              <a:t>1.12.19</a:t>
            </a:r>
            <a:endParaRPr sz="1000">
              <a:solidFill>
                <a:srgbClr val="3B3B3B"/>
              </a:solidFill>
              <a:latin typeface="Roboto"/>
              <a:ea typeface="Roboto"/>
              <a:cs typeface="Roboto"/>
              <a:sym typeface="Roboto"/>
            </a:endParaRPr>
          </a:p>
          <a:p>
            <a:pPr indent="0" lvl="0" marL="0" marR="0" rtl="0" algn="l">
              <a:spcBef>
                <a:spcPts val="0"/>
              </a:spcBef>
              <a:spcAft>
                <a:spcPts val="0"/>
              </a:spcAft>
              <a:buClr>
                <a:srgbClr val="0F3460"/>
              </a:buClr>
              <a:buSzPts val="1100"/>
              <a:buFont typeface="Calibri"/>
              <a:buNone/>
            </a:pPr>
            <a:r>
              <a:t/>
            </a:r>
            <a:endParaRPr b="1" sz="1200">
              <a:solidFill>
                <a:srgbClr val="0F3460"/>
              </a:solidFill>
              <a:latin typeface="Calibri"/>
              <a:ea typeface="Calibri"/>
              <a:cs typeface="Calibri"/>
              <a:sym typeface="Calibri"/>
            </a:endParaRPr>
          </a:p>
        </p:txBody>
      </p:sp>
      <p:sp>
        <p:nvSpPr>
          <p:cNvPr id="194" name="Google Shape;194;g3d4367663e0_1_54"/>
          <p:cNvSpPr/>
          <p:nvPr/>
        </p:nvSpPr>
        <p:spPr>
          <a:xfrm>
            <a:off x="274320" y="264535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5" name="Google Shape;195;g3d4367663e0_1_54"/>
          <p:cNvSpPr/>
          <p:nvPr/>
        </p:nvSpPr>
        <p:spPr>
          <a:xfrm>
            <a:off x="274320" y="2781267"/>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6" name="Google Shape;196;g3d4367663e0_1_54"/>
          <p:cNvSpPr/>
          <p:nvPr/>
        </p:nvSpPr>
        <p:spPr>
          <a:xfrm>
            <a:off x="274320" y="2777365"/>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Analysis</a:t>
            </a:r>
            <a:endParaRPr i="0" sz="1200" u="none" cap="none" strike="noStrike">
              <a:solidFill>
                <a:schemeClr val="dk1"/>
              </a:solidFill>
              <a:latin typeface="Calibri"/>
              <a:ea typeface="Calibri"/>
              <a:cs typeface="Calibri"/>
              <a:sym typeface="Calibri"/>
            </a:endParaRPr>
          </a:p>
        </p:txBody>
      </p:sp>
      <p:sp>
        <p:nvSpPr>
          <p:cNvPr id="197" name="Google Shape;197;g3d4367663e0_1_54"/>
          <p:cNvSpPr/>
          <p:nvPr/>
        </p:nvSpPr>
        <p:spPr>
          <a:xfrm>
            <a:off x="1645920" y="275828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Jupyter </a:t>
            </a:r>
            <a:r>
              <a:rPr lang="en-US" sz="1000">
                <a:solidFill>
                  <a:srgbClr val="3B3B3B"/>
                </a:solidFill>
                <a:latin typeface="Roboto"/>
                <a:ea typeface="Roboto"/>
                <a:cs typeface="Roboto"/>
                <a:sym typeface="Roboto"/>
              </a:rPr>
              <a:t>4.5.6</a:t>
            </a:r>
            <a:endParaRPr i="0" sz="1200" u="none" cap="none" strike="noStrike">
              <a:solidFill>
                <a:schemeClr val="dk1"/>
              </a:solidFill>
              <a:latin typeface="Calibri"/>
              <a:ea typeface="Calibri"/>
              <a:cs typeface="Calibri"/>
              <a:sym typeface="Calibri"/>
            </a:endParaRPr>
          </a:p>
        </p:txBody>
      </p:sp>
      <p:sp>
        <p:nvSpPr>
          <p:cNvPr id="198" name="Google Shape;198;g3d4367663e0_1_54"/>
          <p:cNvSpPr/>
          <p:nvPr/>
        </p:nvSpPr>
        <p:spPr>
          <a:xfrm>
            <a:off x="2866270" y="2758283"/>
            <a:ext cx="5394900" cy="3840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Jupyter for deep EDA, Graphical rep</a:t>
            </a:r>
            <a:r>
              <a:rPr lang="en-US" sz="1200">
                <a:solidFill>
                  <a:srgbClr val="1A1A2E"/>
                </a:solidFill>
                <a:latin typeface="Calibri"/>
                <a:ea typeface="Calibri"/>
                <a:cs typeface="Calibri"/>
                <a:sym typeface="Calibri"/>
              </a:rPr>
              <a:t>resentation of the findings. </a:t>
            </a:r>
            <a:endParaRPr i="0" sz="1200" u="none" cap="none" strike="noStrike">
              <a:solidFill>
                <a:schemeClr val="dk1"/>
              </a:solidFill>
              <a:latin typeface="Calibri"/>
              <a:ea typeface="Calibri"/>
              <a:cs typeface="Calibri"/>
              <a:sym typeface="Calibri"/>
            </a:endParaRPr>
          </a:p>
        </p:txBody>
      </p:sp>
      <p:sp>
        <p:nvSpPr>
          <p:cNvPr id="199" name="Google Shape;199;g3d4367663e0_1_54"/>
          <p:cNvSpPr/>
          <p:nvPr/>
        </p:nvSpPr>
        <p:spPr>
          <a:xfrm>
            <a:off x="2866275" y="1754513"/>
            <a:ext cx="6094800" cy="9201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SzPts val="1200"/>
              <a:buFont typeface="Calibri"/>
              <a:buChar char="●"/>
            </a:pPr>
            <a:r>
              <a:rPr lang="en-US" sz="1200">
                <a:solidFill>
                  <a:schemeClr val="dk1"/>
                </a:solidFill>
                <a:latin typeface="Calibri"/>
                <a:ea typeface="Calibri"/>
                <a:cs typeface="Calibri"/>
                <a:sym typeface="Calibri"/>
              </a:rPr>
              <a:t>Orchestration. </a:t>
            </a:r>
            <a:r>
              <a:rPr lang="en-US" sz="1200">
                <a:latin typeface="Calibri"/>
                <a:ea typeface="Calibri"/>
                <a:cs typeface="Calibri"/>
                <a:sym typeface="Calibri"/>
              </a:rPr>
              <a:t>Ran the full pipeline end-to-end as a DAG — Meltano EL first, then dbt transformations, with visual asset tracking</a:t>
            </a:r>
            <a:endParaRPr sz="1200">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Software-defined assets; visual DAG UI; native dbt + Meltano integrations; </a:t>
            </a:r>
            <a:endParaRPr i="0" sz="1200" u="none" cap="none" strike="noStrike">
              <a:solidFill>
                <a:schemeClr val="dk1"/>
              </a:solidFill>
              <a:latin typeface="Calibri"/>
              <a:ea typeface="Calibri"/>
              <a:cs typeface="Calibri"/>
              <a:sym typeface="Calibri"/>
            </a:endParaRPr>
          </a:p>
        </p:txBody>
      </p:sp>
      <p:sp>
        <p:nvSpPr>
          <p:cNvPr id="200" name="Google Shape;200;g3d4367663e0_1_54"/>
          <p:cNvSpPr/>
          <p:nvPr/>
        </p:nvSpPr>
        <p:spPr>
          <a:xfrm>
            <a:off x="8412480" y="4714448"/>
            <a:ext cx="5487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i="0" lang="en-US" sz="1200" u="none" cap="none" strike="noStrike">
                <a:solidFill>
                  <a:srgbClr val="64748B"/>
                </a:solidFill>
                <a:latin typeface="Calibri"/>
                <a:ea typeface="Calibri"/>
                <a:cs typeface="Calibri"/>
                <a:sym typeface="Calibri"/>
              </a:rPr>
              <a:t>9 / 12</a:t>
            </a:r>
            <a:endParaRPr i="0" sz="1200" u="none" cap="none" strike="noStrike">
              <a:solidFill>
                <a:schemeClr val="dk1"/>
              </a:solidFill>
              <a:latin typeface="Calibri"/>
              <a:ea typeface="Calibri"/>
              <a:cs typeface="Calibri"/>
              <a:sym typeface="Calibri"/>
            </a:endParaRPr>
          </a:p>
        </p:txBody>
      </p:sp>
      <p:sp>
        <p:nvSpPr>
          <p:cNvPr id="201" name="Google Shape;201;g3d4367663e0_1_54"/>
          <p:cNvSpPr/>
          <p:nvPr/>
        </p:nvSpPr>
        <p:spPr>
          <a:xfrm>
            <a:off x="289002" y="3350203"/>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2" name="Google Shape;202;g3d4367663e0_1_54"/>
          <p:cNvSpPr/>
          <p:nvPr/>
        </p:nvSpPr>
        <p:spPr>
          <a:xfrm>
            <a:off x="289002" y="334630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Environment</a:t>
            </a:r>
            <a:endParaRPr i="0" sz="1200" u="none" cap="none" strike="noStrike">
              <a:solidFill>
                <a:schemeClr val="dk1"/>
              </a:solidFill>
              <a:latin typeface="Calibri"/>
              <a:ea typeface="Calibri"/>
              <a:cs typeface="Calibri"/>
              <a:sym typeface="Calibri"/>
            </a:endParaRPr>
          </a:p>
        </p:txBody>
      </p:sp>
      <p:sp>
        <p:nvSpPr>
          <p:cNvPr id="203" name="Google Shape;203;g3d4367663e0_1_54"/>
          <p:cNvSpPr/>
          <p:nvPr/>
        </p:nvSpPr>
        <p:spPr>
          <a:xfrm>
            <a:off x="1683554" y="3384599"/>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WSL ubuntu+ Conda</a:t>
            </a:r>
            <a:endParaRPr i="0" sz="1200" u="none" cap="none" strike="noStrike">
              <a:solidFill>
                <a:schemeClr val="dk1"/>
              </a:solidFill>
              <a:latin typeface="Calibri"/>
              <a:ea typeface="Calibri"/>
              <a:cs typeface="Calibri"/>
              <a:sym typeface="Calibri"/>
            </a:endParaRPr>
          </a:p>
        </p:txBody>
      </p:sp>
      <p:sp>
        <p:nvSpPr>
          <p:cNvPr id="204" name="Google Shape;204;g3d4367663e0_1_54"/>
          <p:cNvSpPr/>
          <p:nvPr/>
        </p:nvSpPr>
        <p:spPr>
          <a:xfrm>
            <a:off x="2866270" y="3335394"/>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Python 3.11 Isolated Linux env on Windows ARM64</a:t>
            </a:r>
            <a:endParaRPr sz="1200">
              <a:solidFill>
                <a:srgbClr val="1A1A2E"/>
              </a:solidFill>
              <a:latin typeface="Calibri"/>
              <a:ea typeface="Calibri"/>
              <a:cs typeface="Calibri"/>
              <a:sym typeface="Calibri"/>
            </a:endParaRPr>
          </a:p>
        </p:txBody>
      </p:sp>
      <p:sp>
        <p:nvSpPr>
          <p:cNvPr id="205" name="Google Shape;205;g3d4367663e0_1_54"/>
          <p:cNvSpPr/>
          <p:nvPr/>
        </p:nvSpPr>
        <p:spPr>
          <a:xfrm>
            <a:off x="274327" y="3958400"/>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6" name="Google Shape;206;g3d4367663e0_1_54"/>
          <p:cNvSpPr/>
          <p:nvPr/>
        </p:nvSpPr>
        <p:spPr>
          <a:xfrm>
            <a:off x="274327" y="395449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Auth</a:t>
            </a:r>
            <a:endParaRPr i="0" sz="1200" u="none" cap="none" strike="noStrike">
              <a:solidFill>
                <a:schemeClr val="dk1"/>
              </a:solidFill>
              <a:latin typeface="Calibri"/>
              <a:ea typeface="Calibri"/>
              <a:cs typeface="Calibri"/>
              <a:sym typeface="Calibri"/>
            </a:endParaRPr>
          </a:p>
        </p:txBody>
      </p:sp>
      <p:sp>
        <p:nvSpPr>
          <p:cNvPr id="207" name="Google Shape;207;g3d4367663e0_1_54"/>
          <p:cNvSpPr/>
          <p:nvPr/>
        </p:nvSpPr>
        <p:spPr>
          <a:xfrm>
            <a:off x="1668879" y="399279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GCP ADC</a:t>
            </a:r>
            <a:endParaRPr i="0" sz="1200" u="none" cap="none" strike="noStrike">
              <a:solidFill>
                <a:schemeClr val="dk1"/>
              </a:solidFill>
              <a:latin typeface="Calibri"/>
              <a:ea typeface="Calibri"/>
              <a:cs typeface="Calibri"/>
              <a:sym typeface="Calibri"/>
            </a:endParaRPr>
          </a:p>
        </p:txBody>
      </p:sp>
      <p:sp>
        <p:nvSpPr>
          <p:cNvPr id="208" name="Google Shape;208;g3d4367663e0_1_54"/>
          <p:cNvSpPr/>
          <p:nvPr/>
        </p:nvSpPr>
        <p:spPr>
          <a:xfrm>
            <a:off x="2866270" y="3943591"/>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Application Default Credentials</a:t>
            </a:r>
            <a:endParaRPr sz="1200">
              <a:solidFill>
                <a:srgbClr val="3B3B3B"/>
              </a:solidFill>
              <a:latin typeface="Calibri"/>
              <a:ea typeface="Calibri"/>
              <a:cs typeface="Calibri"/>
              <a:sym typeface="Calibri"/>
            </a:endParaRPr>
          </a:p>
        </p:txBody>
      </p:sp>
      <p:sp>
        <p:nvSpPr>
          <p:cNvPr id="209" name="Google Shape;209;g3d4367663e0_1_54"/>
          <p:cNvSpPr/>
          <p:nvPr/>
        </p:nvSpPr>
        <p:spPr>
          <a:xfrm>
            <a:off x="289002" y="4509225"/>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0" name="Google Shape;210;g3d4367663e0_1_54"/>
          <p:cNvSpPr/>
          <p:nvPr/>
        </p:nvSpPr>
        <p:spPr>
          <a:xfrm>
            <a:off x="289002" y="4505323"/>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Language</a:t>
            </a:r>
            <a:endParaRPr i="0" sz="1200" u="none" cap="none" strike="noStrike">
              <a:solidFill>
                <a:schemeClr val="dk1"/>
              </a:solidFill>
              <a:latin typeface="Calibri"/>
              <a:ea typeface="Calibri"/>
              <a:cs typeface="Calibri"/>
              <a:sym typeface="Calibri"/>
            </a:endParaRPr>
          </a:p>
        </p:txBody>
      </p:sp>
      <p:sp>
        <p:nvSpPr>
          <p:cNvPr id="211" name="Google Shape;211;g3d4367663e0_1_54"/>
          <p:cNvSpPr/>
          <p:nvPr/>
        </p:nvSpPr>
        <p:spPr>
          <a:xfrm>
            <a:off x="1683554" y="4543620"/>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Python</a:t>
            </a:r>
            <a:endParaRPr i="0" sz="1200" u="none" cap="none" strike="noStrike">
              <a:solidFill>
                <a:schemeClr val="dk1"/>
              </a:solidFill>
              <a:latin typeface="Calibri"/>
              <a:ea typeface="Calibri"/>
              <a:cs typeface="Calibri"/>
              <a:sym typeface="Calibri"/>
            </a:endParaRPr>
          </a:p>
        </p:txBody>
      </p:sp>
      <p:sp>
        <p:nvSpPr>
          <p:cNvPr id="212" name="Google Shape;212;g3d4367663e0_1_54"/>
          <p:cNvSpPr/>
          <p:nvPr/>
        </p:nvSpPr>
        <p:spPr>
          <a:xfrm>
            <a:off x="2866270" y="4494416"/>
            <a:ext cx="5394900" cy="384000"/>
          </a:xfrm>
          <a:prstGeom prst="rect">
            <a:avLst/>
          </a:prstGeom>
          <a:noFill/>
          <a:ln>
            <a:noFill/>
          </a:ln>
        </p:spPr>
        <p:txBody>
          <a:bodyPr anchorCtr="0" anchor="ctr" bIns="0" lIns="0" spcFirstLastPara="1" rIns="0" wrap="square" tIns="0">
            <a:noAutofit/>
          </a:bodyPr>
          <a:lstStyle/>
          <a:p>
            <a:pPr indent="-304800" lvl="0" marL="457200" marR="0" rtl="0" algn="l">
              <a:lnSpc>
                <a:spcPct val="100000"/>
              </a:lnSpc>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Python 3.11 via Condo</a:t>
            </a:r>
            <a:endParaRPr sz="1200">
              <a:solidFill>
                <a:srgbClr val="3B3B3B"/>
              </a:solidFill>
              <a:latin typeface="Calibri"/>
              <a:ea typeface="Calibri"/>
              <a:cs typeface="Calibri"/>
              <a:sym typeface="Calibri"/>
            </a:endParaRPr>
          </a:p>
        </p:txBody>
      </p:sp>
      <p:sp>
        <p:nvSpPr>
          <p:cNvPr id="213" name="Google Shape;213;g3d4367663e0_1_54"/>
          <p:cNvSpPr/>
          <p:nvPr/>
        </p:nvSpPr>
        <p:spPr>
          <a:xfrm>
            <a:off x="274345" y="3216043"/>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4" name="Google Shape;214;g3d4367663e0_1_54"/>
          <p:cNvSpPr/>
          <p:nvPr/>
        </p:nvSpPr>
        <p:spPr>
          <a:xfrm>
            <a:off x="274345" y="375160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5" name="Google Shape;215;g3d4367663e0_1_54"/>
          <p:cNvSpPr/>
          <p:nvPr/>
        </p:nvSpPr>
        <p:spPr>
          <a:xfrm>
            <a:off x="426720" y="440651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0" name="Shape 220"/>
        <p:cNvGrpSpPr/>
        <p:nvPr/>
      </p:nvGrpSpPr>
      <p:grpSpPr>
        <a:xfrm>
          <a:off x="0" y="0"/>
          <a:ext cx="0" cy="0"/>
          <a:chOff x="0" y="0"/>
          <a:chExt cx="0" cy="0"/>
        </a:xfrm>
      </p:grpSpPr>
      <p:sp>
        <p:nvSpPr>
          <p:cNvPr id="221" name="Google Shape;221;g3d4367663e0_1_11"/>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4367663e0_1_11"/>
          <p:cNvSpPr/>
          <p:nvPr/>
        </p:nvSpPr>
        <p:spPr>
          <a:xfrm>
            <a:off x="193621"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23" name="Google Shape;223;g3d4367663e0_1_11"/>
          <p:cNvSpPr txBox="1"/>
          <p:nvPr/>
        </p:nvSpPr>
        <p:spPr>
          <a:xfrm>
            <a:off x="342900" y="879358"/>
            <a:ext cx="7355400" cy="43386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1: DuckDB as Local Staging Layer</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DuckDB before BigQuerY </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Validate data quality locally before paying for BigQuery compute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Fast columnar queries on CSV without a running database server</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Zero-config — single file database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Acts as a fallback if cloud is unavailable</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2. </a:t>
            </a:r>
            <a:r>
              <a:rPr b="1" lang="en-US">
                <a:solidFill>
                  <a:srgbClr val="3B3B3B"/>
                </a:solidFill>
                <a:latin typeface="Calibri"/>
                <a:ea typeface="Calibri"/>
                <a:cs typeface="Calibri"/>
                <a:sym typeface="Calibri"/>
              </a:rPr>
              <a:t>Meltano for Extract &amp; Load : </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2.1 </a:t>
            </a:r>
            <a:r>
              <a:rPr b="1" lang="en-US" sz="1200">
                <a:solidFill>
                  <a:srgbClr val="3B3B3B"/>
                </a:solidFill>
                <a:latin typeface="Calibri"/>
                <a:ea typeface="Calibri"/>
                <a:cs typeface="Calibri"/>
                <a:sym typeface="Calibri"/>
              </a:rPr>
              <a:t>Extract</a:t>
            </a: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Meltano 4.1.2 with tap-csv </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D</a:t>
            </a:r>
            <a:r>
              <a:rPr lang="en-US" sz="1200">
                <a:solidFill>
                  <a:srgbClr val="3B3B3B"/>
                </a:solidFill>
                <a:latin typeface="Calibri"/>
                <a:ea typeface="Calibri"/>
                <a:cs typeface="Calibri"/>
                <a:sym typeface="Calibri"/>
              </a:rPr>
              <a:t>eclarative config in meltano.yml — reproducible and version-controllable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Singer protocol ensures compatibility between any tap and target</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Handles incremental state, retries, and logging out of the box</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EL from transformation (EL tool should not transform data)</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Raw Layer — No Transformations at Load Time</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2.2 </a:t>
            </a:r>
            <a:r>
              <a:rPr b="1" lang="en-US" sz="1200">
                <a:solidFill>
                  <a:srgbClr val="3B3B3B"/>
                </a:solidFill>
                <a:latin typeface="Calibri"/>
                <a:ea typeface="Calibri"/>
                <a:cs typeface="Calibri"/>
                <a:sym typeface="Calibri"/>
              </a:rPr>
              <a:t>Load </a:t>
            </a:r>
            <a:r>
              <a:rPr lang="en-US" sz="1200">
                <a:solidFill>
                  <a:srgbClr val="3B3B3B"/>
                </a:solidFill>
                <a:latin typeface="Calibri"/>
                <a:ea typeface="Calibri"/>
                <a:cs typeface="Calibri"/>
                <a:sym typeface="Calibri"/>
              </a:rPr>
              <a:t>data exactly as-is into </a:t>
            </a:r>
            <a:r>
              <a:rPr lang="en-US" sz="1200">
                <a:solidFill>
                  <a:srgbClr val="3B3B3B"/>
                </a:solidFill>
                <a:latin typeface="Calibri"/>
                <a:ea typeface="Calibri"/>
                <a:cs typeface="Calibri"/>
                <a:sym typeface="Calibri"/>
              </a:rPr>
              <a:t>target-bigquery </a:t>
            </a:r>
            <a:r>
              <a:rPr lang="en-US" sz="1200">
                <a:solidFill>
                  <a:srgbClr val="3B3B3B"/>
                </a:solidFill>
                <a:latin typeface="Calibri"/>
                <a:ea typeface="Calibri"/>
                <a:cs typeface="Calibri"/>
                <a:sym typeface="Calibri"/>
              </a:rPr>
              <a:t>BigQuery raw tables- </a:t>
            </a:r>
            <a:r>
              <a:rPr lang="en-US" sz="1200">
                <a:solidFill>
                  <a:srgbClr val="3B3B3B"/>
                </a:solidFill>
                <a:latin typeface="Calibri"/>
                <a:ea typeface="Calibri"/>
                <a:cs typeface="Calibri"/>
                <a:sym typeface="Calibri"/>
              </a:rPr>
              <a:t>Raw → Staging → Mart</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Preserves original data — always possible to re-transform from raw</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concerns — EL tool does not transform, dbt does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Easier debugging — if mart is wrong, raw data is unchanged</a:t>
            </a:r>
            <a:endParaRPr sz="1200">
              <a:solidFill>
                <a:srgbClr val="3B3B3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8" name="Shape 228"/>
        <p:cNvGrpSpPr/>
        <p:nvPr/>
      </p:nvGrpSpPr>
      <p:grpSpPr>
        <a:xfrm>
          <a:off x="0" y="0"/>
          <a:ext cx="0" cy="0"/>
          <a:chOff x="0" y="0"/>
          <a:chExt cx="0" cy="0"/>
        </a:xfrm>
      </p:grpSpPr>
      <p:sp>
        <p:nvSpPr>
          <p:cNvPr id="229" name="Google Shape;229;g3d4367663e0_1_119"/>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d4367663e0_1_119"/>
          <p:cNvSpPr/>
          <p:nvPr/>
        </p:nvSpPr>
        <p:spPr>
          <a:xfrm>
            <a:off x="255856"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a:t>
            </a:r>
            <a:endParaRPr b="0" i="0" sz="2400" u="none" cap="none" strike="noStrike">
              <a:solidFill>
                <a:schemeClr val="dk1"/>
              </a:solidFill>
              <a:latin typeface="Calibri"/>
              <a:ea typeface="Calibri"/>
              <a:cs typeface="Calibri"/>
              <a:sym typeface="Calibri"/>
            </a:endParaRPr>
          </a:p>
        </p:txBody>
      </p:sp>
      <p:sp>
        <p:nvSpPr>
          <p:cNvPr id="231" name="Google Shape;231;g3d4367663e0_1_119"/>
          <p:cNvSpPr txBox="1"/>
          <p:nvPr/>
        </p:nvSpPr>
        <p:spPr>
          <a:xfrm>
            <a:off x="491987" y="836935"/>
            <a:ext cx="7429800" cy="356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3. </a:t>
            </a:r>
            <a:r>
              <a:rPr b="1" lang="en-US">
                <a:solidFill>
                  <a:srgbClr val="3B3B3B"/>
                </a:solidFill>
                <a:latin typeface="Calibri"/>
                <a:ea typeface="Calibri"/>
                <a:cs typeface="Calibri"/>
                <a:sym typeface="Calibri"/>
              </a:rPr>
              <a:t>dbt for Transformations: </a:t>
            </a:r>
            <a:r>
              <a:rPr lang="en-US">
                <a:solidFill>
                  <a:srgbClr val="3B3B3B"/>
                </a:solidFill>
                <a:latin typeface="Calibri"/>
                <a:ea typeface="Calibri"/>
                <a:cs typeface="Calibri"/>
                <a:sym typeface="Calibri"/>
              </a:rPr>
              <a:t>dbt-bigquery with staging + mart layers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SQL-based — easy to audit, version control, and test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Built-in data quality tests (</a:t>
            </a:r>
            <a:r>
              <a:rPr lang="en-US" sz="900">
                <a:solidFill>
                  <a:srgbClr val="3B3B3B"/>
                </a:solidFill>
                <a:latin typeface="Roboto Mono"/>
                <a:ea typeface="Roboto Mono"/>
                <a:cs typeface="Roboto Mono"/>
                <a:sym typeface="Roboto Mono"/>
              </a:rPr>
              <a:t>not_null</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unique</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accepted_values</a:t>
            </a:r>
            <a:r>
              <a:rPr lang="en-US" sz="1000">
                <a:solidFill>
                  <a:srgbClr val="3B3B3B"/>
                </a:solidFill>
                <a:latin typeface="Roboto"/>
                <a:ea typeface="Roboto"/>
                <a:cs typeface="Roboto"/>
                <a:sym typeface="Roboto"/>
              </a:rPr>
              <a: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graph — dbt knows staging must run before mart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Creates views in BigQuery — no data duplication, always fresh</a:t>
            </a:r>
            <a:endParaRPr sz="1000">
              <a:solidFill>
                <a:srgbClr val="3B3B3B"/>
              </a:solidFill>
              <a:latin typeface="Roboto"/>
              <a:ea typeface="Roboto"/>
              <a:cs typeface="Roboto"/>
              <a:sym typeface="Roboto"/>
            </a:endParaRPr>
          </a:p>
          <a:p>
            <a:pPr indent="0" lvl="0" marL="0" rtl="0" algn="l">
              <a:lnSpc>
                <a:spcPct val="115000"/>
              </a:lnSpc>
              <a:spcBef>
                <a:spcPts val="1000"/>
              </a:spcBef>
              <a:spcAft>
                <a:spcPts val="0"/>
              </a:spcAft>
              <a:buNone/>
            </a:pPr>
            <a:r>
              <a:rPr b="1" lang="en-US" sz="1000">
                <a:solidFill>
                  <a:srgbClr val="3B3B3B"/>
                </a:solidFill>
                <a:latin typeface="Roboto"/>
                <a:ea typeface="Roboto"/>
                <a:cs typeface="Roboto"/>
                <a:sym typeface="Roboto"/>
              </a:rPr>
              <a:t>Models designed:</a:t>
            </a:r>
            <a:endParaRPr b="1" sz="1000">
              <a:solidFill>
                <a:srgbClr val="3B3B3B"/>
              </a:solidFill>
              <a:latin typeface="Roboto"/>
              <a:ea typeface="Roboto"/>
              <a:cs typeface="Roboto"/>
              <a:sym typeface="Roboto"/>
            </a:endParaRPr>
          </a:p>
          <a:p>
            <a:pPr indent="0" lvl="0" marL="0" rtl="0" algn="l">
              <a:spcBef>
                <a:spcPts val="200"/>
              </a:spcBef>
              <a:spcAft>
                <a:spcPts val="0"/>
              </a:spcAft>
              <a:buNone/>
            </a:pPr>
            <a:r>
              <a:rPr lang="en-US" sz="900">
                <a:solidFill>
                  <a:srgbClr val="3B3B3B"/>
                </a:solidFill>
                <a:latin typeface="Roboto"/>
                <a:ea typeface="Roboto"/>
                <a:cs typeface="Roboto"/>
                <a:sym typeface="Roboto"/>
              </a:rPr>
              <a:t>raw_oil_prices  →  stg_oil_prices  ─┐</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                                     ├→  mart_oil_geopolitics</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raw_geo_events  →  stg_geo_events  ─┘</a:t>
            </a:r>
            <a:endParaRPr sz="900">
              <a:solidFill>
                <a:srgbClr val="3B3B3B"/>
              </a:solidFill>
              <a:latin typeface="Roboto"/>
              <a:ea typeface="Roboto"/>
              <a:cs typeface="Roboto"/>
              <a:sym typeface="Roboto"/>
            </a:endParaRPr>
          </a:p>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4. </a:t>
            </a:r>
            <a:r>
              <a:rPr b="1" lang="en-US">
                <a:solidFill>
                  <a:srgbClr val="3B3B3B"/>
                </a:solidFill>
                <a:latin typeface="Calibri"/>
                <a:ea typeface="Calibri"/>
                <a:cs typeface="Calibri"/>
                <a:sym typeface="Calibri"/>
              </a:rPr>
              <a:t>: Dagster for Orchestration: </a:t>
            </a:r>
            <a:r>
              <a:rPr lang="en-US">
                <a:solidFill>
                  <a:srgbClr val="3B3B3B"/>
                </a:solidFill>
                <a:latin typeface="Calibri"/>
                <a:ea typeface="Calibri"/>
                <a:cs typeface="Calibri"/>
                <a:sym typeface="Calibri"/>
              </a:rPr>
              <a:t> Dagster with 3 software-defined assets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Asset-based model — each step is a testable, observable unit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Visual UI at localhost:3000 — easy to monitor and re-run</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enforcement — dbt_tests cannot run before dbt_transformations</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Better than Airflow for small local pipelines — no separate DB required</a:t>
            </a:r>
            <a:endParaRPr sz="1000">
              <a:solidFill>
                <a:srgbClr val="3B3B3B"/>
              </a:solidFill>
              <a:latin typeface="Roboto"/>
              <a:ea typeface="Roboto"/>
              <a:cs typeface="Roboto"/>
              <a:sym typeface="Roboto"/>
            </a:endParaRPr>
          </a:p>
          <a:p>
            <a:pPr indent="0" lvl="0" marL="0" rtl="0" algn="l">
              <a:spcBef>
                <a:spcPts val="1000"/>
              </a:spcBef>
              <a:spcAft>
                <a:spcPts val="0"/>
              </a:spcAft>
              <a:buNone/>
            </a:pPr>
            <a:r>
              <a:rPr b="1" lang="en-US" sz="1000">
                <a:solidFill>
                  <a:srgbClr val="3B3B3B"/>
                </a:solidFill>
                <a:latin typeface="Roboto"/>
                <a:ea typeface="Roboto"/>
                <a:cs typeface="Roboto"/>
                <a:sym typeface="Roboto"/>
              </a:rPr>
              <a:t>Order: </a:t>
            </a:r>
            <a:r>
              <a:rPr lang="en-US" sz="900">
                <a:solidFill>
                  <a:srgbClr val="3B3B3B"/>
                </a:solidFill>
                <a:latin typeface="Roboto"/>
                <a:ea typeface="Roboto"/>
                <a:cs typeface="Roboto"/>
                <a:sym typeface="Roboto"/>
              </a:rPr>
              <a:t>meltano_extract_load → dbt_transformations → dbt_tests</a:t>
            </a:r>
            <a:endParaRPr sz="1000">
              <a:solidFill>
                <a:srgbClr val="3B3B3B"/>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36" name="Shape 236"/>
        <p:cNvGrpSpPr/>
        <p:nvPr/>
      </p:nvGrpSpPr>
      <p:grpSpPr>
        <a:xfrm>
          <a:off x="0" y="0"/>
          <a:ext cx="0" cy="0"/>
          <a:chOff x="0" y="0"/>
          <a:chExt cx="0" cy="0"/>
        </a:xfrm>
      </p:grpSpPr>
      <p:sp>
        <p:nvSpPr>
          <p:cNvPr id="237" name="Google Shape;237;g3d4367663e0_1_133"/>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d4367663e0_1_133"/>
          <p:cNvSpPr/>
          <p:nvPr/>
        </p:nvSpPr>
        <p:spPr>
          <a:xfrm>
            <a:off x="219222"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39" name="Google Shape;239;g3d4367663e0_1_133"/>
          <p:cNvSpPr txBox="1"/>
          <p:nvPr/>
        </p:nvSpPr>
        <p:spPr>
          <a:xfrm>
            <a:off x="745435" y="777300"/>
            <a:ext cx="6818700" cy="40974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5. Google cloud: </a:t>
            </a:r>
            <a:r>
              <a:rPr lang="en-US">
                <a:solidFill>
                  <a:srgbClr val="3B3B3B"/>
                </a:solidFill>
                <a:highlight>
                  <a:srgbClr val="F8F8F8"/>
                </a:highlight>
                <a:latin typeface="Calibri"/>
                <a:ea typeface="Calibri"/>
                <a:cs typeface="Calibri"/>
                <a:sym typeface="Calibri"/>
              </a:rPr>
              <a:t>Central analytical data store</a:t>
            </a:r>
            <a:endParaRPr>
              <a:solidFill>
                <a:srgbClr val="3B3B3B"/>
              </a:solidFill>
              <a:highlight>
                <a:srgbClr val="F8F8F8"/>
              </a:highlight>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ADC Instead of Service Account JSON Key</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Application Default Credentials (gcloud auth application-default login)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Organisation policy blocked JSON key creation</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ADC uses the logged-in Google account — same permissions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More secure — no key file to accidentally commit to git</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Limitation:</a:t>
            </a:r>
            <a:r>
              <a:rPr lang="en-US" sz="1200">
                <a:solidFill>
                  <a:srgbClr val="3B3B3B"/>
                </a:solidFill>
                <a:latin typeface="Calibri"/>
                <a:ea typeface="Calibri"/>
                <a:cs typeface="Calibri"/>
                <a:sym typeface="Calibri"/>
              </a:rPr>
              <a:t> Cannot be used in fully automated production pipelines (requires interactive login periodically)</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6</a:t>
            </a:r>
            <a:r>
              <a:rPr b="1" lang="en-US">
                <a:solidFill>
                  <a:srgbClr val="3B3B3B"/>
                </a:solidFill>
                <a:latin typeface="Calibri"/>
                <a:ea typeface="Calibri"/>
                <a:cs typeface="Calibri"/>
                <a:sym typeface="Calibri"/>
              </a:rPr>
              <a:t>: WSL Ubuntu / Terminal for Pipeline Runtime</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All Meltano/dbt/Dagster commands run in WSL, not Windows and Mac Terminal</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Meltano has no Windows-native support — requires Linux shell</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WSL provides stable Linux environment without a separate VM </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7. </a:t>
            </a:r>
            <a:r>
              <a:rPr b="1" lang="en-US">
                <a:solidFill>
                  <a:srgbClr val="3B3B3B"/>
                </a:solidFill>
                <a:latin typeface="Calibri"/>
                <a:ea typeface="Calibri"/>
                <a:cs typeface="Calibri"/>
                <a:sym typeface="Calibri"/>
              </a:rPr>
              <a:t> Python 3.11 via Conda</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Conda environment meltano-env with Python 3.11</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Python 3.13 (default on machine) caused pendulum==2.1.2 build failure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Conda allows isolated, reproducible environment separate from system Python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Python 3.11 is the last version with broad package compatibility for Meltano dependencies</a:t>
            </a:r>
            <a:endParaRPr sz="1200">
              <a:solidFill>
                <a:srgbClr val="3B3B3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4" name="Shape 244"/>
        <p:cNvGrpSpPr/>
        <p:nvPr/>
      </p:nvGrpSpPr>
      <p:grpSpPr>
        <a:xfrm>
          <a:off x="0" y="0"/>
          <a:ext cx="0" cy="0"/>
          <a:chOff x="0" y="0"/>
          <a:chExt cx="0" cy="0"/>
        </a:xfrm>
      </p:grpSpPr>
      <p:sp>
        <p:nvSpPr>
          <p:cNvPr id="245" name="Google Shape;245;g3d26b78a17e_0_25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26b78a17e_0_25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Key Challenges</a:t>
            </a:r>
            <a:endParaRPr b="1" sz="2400">
              <a:solidFill>
                <a:srgbClr val="FFFFFF"/>
              </a:solidFill>
              <a:latin typeface="Calibri"/>
              <a:ea typeface="Calibri"/>
              <a:cs typeface="Calibri"/>
              <a:sym typeface="Calibri"/>
            </a:endParaRPr>
          </a:p>
        </p:txBody>
      </p:sp>
      <p:sp>
        <p:nvSpPr>
          <p:cNvPr id="247" name="Google Shape;247;g3d26b78a17e_0_25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48" name="Google Shape;248;g3d26b78a17e_0_252"/>
          <p:cNvSpPr txBox="1"/>
          <p:nvPr/>
        </p:nvSpPr>
        <p:spPr>
          <a:xfrm>
            <a:off x="270550" y="443775"/>
            <a:ext cx="8873400" cy="432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alibri"/>
              <a:ea typeface="Calibri"/>
              <a:cs typeface="Calibri"/>
              <a:sym typeface="Calibri"/>
            </a:endParaRPr>
          </a:p>
          <a:p>
            <a:pPr indent="-304800" lvl="0" marL="457200" rtl="0" algn="l">
              <a:spcBef>
                <a:spcPts val="0"/>
              </a:spcBef>
              <a:spcAft>
                <a:spcPts val="0"/>
              </a:spcAft>
              <a:buSzPts val="1200"/>
              <a:buAutoNum type="arabicPeriod"/>
            </a:pPr>
            <a:r>
              <a:rPr b="1" lang="en-US" sz="1200">
                <a:latin typeface="Calibri"/>
                <a:ea typeface="Calibri"/>
                <a:cs typeface="Calibri"/>
                <a:sym typeface="Calibri"/>
              </a:rPr>
              <a:t>Python</a:t>
            </a:r>
            <a:r>
              <a:rPr lang="en-US" sz="1200">
                <a:latin typeface="Calibri"/>
                <a:ea typeface="Calibri"/>
                <a:cs typeface="Calibri"/>
                <a:sym typeface="Calibri"/>
              </a:rPr>
              <a:t> 3.13 </a:t>
            </a:r>
            <a:r>
              <a:rPr lang="en-US" sz="1200">
                <a:latin typeface="Calibri"/>
                <a:ea typeface="Calibri"/>
                <a:cs typeface="Calibri"/>
                <a:sym typeface="Calibri"/>
              </a:rPr>
              <a:t>compatibility</a:t>
            </a:r>
            <a:r>
              <a:rPr lang="en-US" sz="1200">
                <a:latin typeface="Calibri"/>
                <a:ea typeface="Calibri"/>
                <a:cs typeface="Calibri"/>
                <a:sym typeface="Calibri"/>
              </a:rPr>
              <a:t> issue- </a:t>
            </a:r>
            <a:r>
              <a:rPr lang="en-US" sz="1200">
                <a:solidFill>
                  <a:schemeClr val="dk1"/>
                </a:solidFill>
                <a:latin typeface="Calibri"/>
                <a:ea typeface="Calibri"/>
                <a:cs typeface="Calibri"/>
                <a:sym typeface="Calibri"/>
              </a:rPr>
              <a:t>Created a dedicated conda environment (meltano-env) with Python 3.11 inside WSL Ubuntu, which provided a stable Linux environment for all pipeline tools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OneDrive Path Causing WSL Disconnects- </a:t>
            </a:r>
            <a:r>
              <a:rPr lang="en-US" sz="1200">
                <a:solidFill>
                  <a:schemeClr val="dk1"/>
                </a:solidFill>
                <a:latin typeface="Calibri"/>
                <a:ea typeface="Calibri"/>
                <a:cs typeface="Calibri"/>
                <a:sym typeface="Calibri"/>
              </a:rPr>
              <a:t>Moved the entire Meltano project into the WSL home directory (~/meltano-ingestion/) to avoid OneDrive path conflicts.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GCP JSON Key Blocked</a:t>
            </a:r>
            <a:r>
              <a:rPr lang="en-US" sz="1200">
                <a:solidFill>
                  <a:schemeClr val="dk1"/>
                </a:solidFill>
                <a:latin typeface="Calibri"/>
                <a:ea typeface="Calibri"/>
                <a:cs typeface="Calibri"/>
                <a:sym typeface="Calibri"/>
              </a:rPr>
              <a:t> by Organisation Policy- Could not create a service account JSON key — blocked by a Google Cloud Organisation Policy restricting key creation. Used Application Default Credentials (ADC) via gcloud auth application-default login, then copied the credentials from Windows to WSL manually.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pkg_resources- “Module Not Found’ </a:t>
            </a:r>
            <a:r>
              <a:rPr lang="en-US" sz="1200">
                <a:solidFill>
                  <a:schemeClr val="dk1"/>
                </a:solidFill>
                <a:latin typeface="Calibri"/>
                <a:ea typeface="Calibri"/>
                <a:cs typeface="Calibri"/>
                <a:sym typeface="Calibri"/>
              </a:rPr>
              <a:t>target-bigquery loader failed on startup with ModuleNotFoundError: No module named 'pkg_resources' — a known issue where newer Python versions no longer bundle setuptools by default in virtual environments.Installed setuptools (&lt;70) ==69.5.1 directly into the target-bigquery venv using the venv's Python binary, restoring the pkg_resources module.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Wrong Config Key Name:</a:t>
            </a:r>
            <a:r>
              <a:rPr lang="en-US" sz="1200">
                <a:solidFill>
                  <a:schemeClr val="dk1"/>
                </a:solidFill>
                <a:latin typeface="Calibri"/>
                <a:ea typeface="Calibri"/>
                <a:cs typeface="Calibri"/>
                <a:sym typeface="Calibri"/>
              </a:rPr>
              <a:t> Meltano pipeline ran but BigQuery rejected the config with KeyError: 'project' — the config had project_id but the z3z1ma variant expects project. Corrected the key name in meltano.yml from project_id to project.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BigQuery Columns Not Flat (JSON Schema Mode): </a:t>
            </a:r>
            <a:r>
              <a:rPr lang="en-US" sz="1200">
                <a:solidFill>
                  <a:schemeClr val="dk1"/>
                </a:solidFill>
                <a:latin typeface="Calibri"/>
                <a:ea typeface="Calibri"/>
                <a:cs typeface="Calibri"/>
                <a:sym typeface="Calibri"/>
              </a:rPr>
              <a:t>dbt models failed with Unrecognized name: date — because target-bigquery defaults to storing records as a JSON blob in a data column rather than individual columns. Added denormalized: true and overwrite: true to the loader config and reloaded the data, producing flat, queryable columns in BigQuery.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Terminal Heredoc Corruption: </a:t>
            </a:r>
            <a:r>
              <a:rPr lang="en-US" sz="1200">
                <a:solidFill>
                  <a:schemeClr val="dk1"/>
                </a:solidFill>
                <a:latin typeface="Calibri"/>
                <a:ea typeface="Calibri"/>
                <a:cs typeface="Calibri"/>
                <a:sym typeface="Calibri"/>
              </a:rPr>
              <a:t>Pasting multi-line bash heredoc commands into the WSL terminal caused lines to get mixed up and files to be written incorrectly. Switched to using python3 - &lt;&lt; 'PYEOF' Python inline scripts for all file writing, which handled multi-line content reliably.</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53" name="Shape 253"/>
        <p:cNvGrpSpPr/>
        <p:nvPr/>
      </p:nvGrpSpPr>
      <p:grpSpPr>
        <a:xfrm>
          <a:off x="0" y="0"/>
          <a:ext cx="0" cy="0"/>
          <a:chOff x="0" y="0"/>
          <a:chExt cx="0" cy="0"/>
        </a:xfrm>
      </p:grpSpPr>
      <p:sp>
        <p:nvSpPr>
          <p:cNvPr id="254" name="Google Shape;254;p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56" name="Google Shape;256;p2"/>
          <p:cNvSpPr txBox="1"/>
          <p:nvPr/>
        </p:nvSpPr>
        <p:spPr>
          <a:xfrm>
            <a:off x="0" y="556625"/>
            <a:ext cx="8877300" cy="61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chemeClr val="dk1"/>
                </a:solidFill>
                <a:latin typeface="Calibri"/>
                <a:ea typeface="Calibri"/>
                <a:cs typeface="Calibri"/>
                <a:sym typeface="Calibri"/>
              </a:rPr>
              <a:t>Finding 1: Oil Prices Are Highly Volatile and Event-Driven </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200"/>
              </a:spcAft>
              <a:buNone/>
            </a:pPr>
            <a:r>
              <a:rPr lang="en-US" sz="1100">
                <a:solidFill>
                  <a:schemeClr val="dk1"/>
                </a:solidFill>
                <a:latin typeface="Calibri"/>
                <a:ea typeface="Calibri"/>
                <a:cs typeface="Calibri"/>
                <a:sym typeface="Calibri"/>
              </a:rPr>
              <a:t>Brent crude and WTI average roughly $80 and $76 approximately </a:t>
            </a:r>
            <a:r>
              <a:rPr b="1" lang="en-US" sz="1100">
                <a:solidFill>
                  <a:schemeClr val="dk1"/>
                </a:solidFill>
                <a:latin typeface="Calibri"/>
                <a:ea typeface="Calibri"/>
                <a:cs typeface="Calibri"/>
                <a:sym typeface="Calibri"/>
              </a:rPr>
              <a:t>per barrel</a:t>
            </a:r>
            <a:r>
              <a:rPr lang="en-US" sz="1100">
                <a:solidFill>
                  <a:schemeClr val="dk1"/>
                </a:solidFill>
                <a:latin typeface="Calibri"/>
                <a:ea typeface="Calibri"/>
                <a:cs typeface="Calibri"/>
                <a:sym typeface="Calibri"/>
              </a:rPr>
              <a:t> over the period </a:t>
            </a:r>
            <a:r>
              <a:rPr lang="en-US" sz="1100">
                <a:solidFill>
                  <a:schemeClr val="dk1"/>
                </a:solidFill>
                <a:latin typeface="Calibri"/>
                <a:ea typeface="Calibri"/>
                <a:cs typeface="Calibri"/>
                <a:sym typeface="Calibri"/>
              </a:rPr>
              <a:t>respectively</a:t>
            </a:r>
            <a:endParaRPr sz="1100">
              <a:solidFill>
                <a:schemeClr val="dk1"/>
              </a:solidFill>
              <a:latin typeface="Calibri"/>
              <a:ea typeface="Calibri"/>
              <a:cs typeface="Calibri"/>
              <a:sym typeface="Calibri"/>
            </a:endParaRPr>
          </a:p>
        </p:txBody>
      </p:sp>
      <p:pic>
        <p:nvPicPr>
          <p:cNvPr id="257" name="Google Shape;257;p2"/>
          <p:cNvPicPr preferRelativeResize="0"/>
          <p:nvPr/>
        </p:nvPicPr>
        <p:blipFill>
          <a:blip r:embed="rId3">
            <a:alphaModFix/>
          </a:blip>
          <a:stretch>
            <a:fillRect/>
          </a:stretch>
        </p:blipFill>
        <p:spPr>
          <a:xfrm>
            <a:off x="254172" y="1177961"/>
            <a:ext cx="8229600" cy="2091053"/>
          </a:xfrm>
          <a:prstGeom prst="rect">
            <a:avLst/>
          </a:prstGeom>
          <a:noFill/>
          <a:ln>
            <a:noFill/>
          </a:ln>
        </p:spPr>
      </p:pic>
      <p:sp>
        <p:nvSpPr>
          <p:cNvPr id="258" name="Google Shape;258;p2"/>
          <p:cNvSpPr txBox="1"/>
          <p:nvPr/>
        </p:nvSpPr>
        <p:spPr>
          <a:xfrm>
            <a:off x="86600" y="3526539"/>
            <a:ext cx="9527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latin typeface="Calibri"/>
                <a:ea typeface="Calibri"/>
                <a:cs typeface="Calibri"/>
                <a:sym typeface="Calibri"/>
              </a:rPr>
              <a:t>Summary: </a:t>
            </a:r>
            <a:endParaRPr b="1"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2014–2016: OPEC supply glut + US shale boom- Brent and WTI fell ~70% from $115 to $30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2020: COVID-19 demand collapse + Russia-Saudi price war- WTI briefly went negative; Brent fell to ~$20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2022: Russia-Ukraine war- Brent spiked to ~$130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2026: </a:t>
            </a:r>
            <a:r>
              <a:rPr lang="en-US" sz="1100">
                <a:latin typeface="Calibri"/>
                <a:ea typeface="Calibri"/>
                <a:cs typeface="Calibri"/>
                <a:sym typeface="Calibri"/>
              </a:rPr>
              <a:t>Israel</a:t>
            </a:r>
            <a:r>
              <a:rPr lang="en-US" sz="1100">
                <a:latin typeface="Calibri"/>
                <a:ea typeface="Calibri"/>
                <a:cs typeface="Calibri"/>
                <a:sym typeface="Calibri"/>
              </a:rPr>
              <a:t> and Iran war: closure of the state of Hormuz: Brent and WTI price are spike: to $$110 to $112 per barral</a:t>
            </a:r>
            <a:endParaRPr sz="1100">
              <a:latin typeface="Calibri"/>
              <a:ea typeface="Calibri"/>
              <a:cs typeface="Calibri"/>
              <a:sym typeface="Calibri"/>
            </a:endParaRPr>
          </a:p>
        </p:txBody>
      </p:sp>
      <p:sp>
        <p:nvSpPr>
          <p:cNvPr id="259" name="Google Shape;259;p2"/>
          <p:cNvSpPr txBox="1"/>
          <p:nvPr/>
        </p:nvSpPr>
        <p:spPr>
          <a:xfrm>
            <a:off x="151275" y="4546015"/>
            <a:ext cx="8877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latin typeface="Calibri"/>
                <a:ea typeface="Calibri"/>
                <a:cs typeface="Calibri"/>
                <a:sym typeface="Calibri"/>
              </a:rPr>
              <a:t>Conclusion</a:t>
            </a:r>
            <a:r>
              <a:rPr lang="en-US" sz="1100">
                <a:latin typeface="Calibri"/>
                <a:ea typeface="Calibri"/>
                <a:cs typeface="Calibri"/>
                <a:sym typeface="Calibri"/>
              </a:rPr>
              <a:t>*: Oil prices are not driven purely by supply-demand fundamentals — geopolitical shocks cause sharp, sudden price dislocations that revert over 6–18 months.</a:t>
            </a:r>
            <a:endParaRPr sz="1100">
              <a:latin typeface="Calibri"/>
              <a:ea typeface="Calibri"/>
              <a:cs typeface="Calibri"/>
              <a:sym typeface="Calibri"/>
            </a:endParaRPr>
          </a:p>
        </p:txBody>
      </p:sp>
      <p:sp>
        <p:nvSpPr>
          <p:cNvPr id="260" name="Google Shape;260;p2"/>
          <p:cNvSpPr txBox="1"/>
          <p:nvPr/>
        </p:nvSpPr>
        <p:spPr>
          <a:xfrm>
            <a:off x="-193756" y="3241325"/>
            <a:ext cx="9196200" cy="354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1100">
                <a:solidFill>
                  <a:srgbClr val="1565C0"/>
                </a:solidFill>
                <a:latin typeface="Calibri"/>
                <a:ea typeface="Calibri"/>
                <a:cs typeface="Calibri"/>
                <a:sym typeface="Calibri"/>
              </a:rPr>
              <a:t>Period                         :  Apr-2010 – Mar 2026 ; Oil price records:  4,047 daily observations; Geopolitical events  :  35 tagged events</a:t>
            </a:r>
            <a:endParaRPr sz="1100">
              <a:solidFill>
                <a:srgbClr val="1565C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65" name="Shape 265"/>
        <p:cNvGrpSpPr/>
        <p:nvPr/>
      </p:nvGrpSpPr>
      <p:grpSpPr>
        <a:xfrm>
          <a:off x="0" y="0"/>
          <a:ext cx="0" cy="0"/>
          <a:chOff x="0" y="0"/>
          <a:chExt cx="0" cy="0"/>
        </a:xfrm>
      </p:grpSpPr>
      <p:sp>
        <p:nvSpPr>
          <p:cNvPr id="266" name="Google Shape;266;g3d26b78a17e_0_197"/>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d26b78a17e_0_197"/>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68" name="Google Shape;268;g3d26b78a17e_0_197"/>
          <p:cNvSpPr txBox="1"/>
          <p:nvPr/>
        </p:nvSpPr>
        <p:spPr>
          <a:xfrm>
            <a:off x="139017" y="1225500"/>
            <a:ext cx="3866400" cy="350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a:solidFill>
                <a:schemeClr val="dk1"/>
              </a:solidFill>
              <a:highlight>
                <a:srgbClr val="FFFFFF"/>
              </a:highlight>
              <a:latin typeface="Calibri"/>
              <a:ea typeface="Calibri"/>
              <a:cs typeface="Calibri"/>
              <a:sym typeface="Calibri"/>
            </a:endParaRPr>
          </a:p>
          <a:p>
            <a:pPr indent="0" lvl="0" marL="0" rtl="0" algn="l">
              <a:lnSpc>
                <a:spcPct val="115000"/>
              </a:lnSpc>
              <a:spcBef>
                <a:spcPts val="400"/>
              </a:spcBef>
              <a:spcAft>
                <a:spcPts val="0"/>
              </a:spcAft>
              <a:buNone/>
            </a:pPr>
            <a:r>
              <a:rPr lang="en-US">
                <a:solidFill>
                  <a:schemeClr val="dk1"/>
                </a:solidFill>
                <a:latin typeface="Calibri"/>
                <a:ea typeface="Calibri"/>
                <a:cs typeface="Calibri"/>
                <a:sym typeface="Calibri"/>
              </a:rPr>
              <a:t>The correlation heatmap shows Brent and WTI prices with a correlation of </a:t>
            </a:r>
            <a:r>
              <a:rPr b="1" lang="en-US">
                <a:solidFill>
                  <a:schemeClr val="dk1"/>
                </a:solidFill>
                <a:latin typeface="Calibri"/>
                <a:ea typeface="Calibri"/>
                <a:cs typeface="Calibri"/>
                <a:sym typeface="Calibri"/>
              </a:rPr>
              <a:t>~0.99</a:t>
            </a:r>
            <a:r>
              <a:rPr lang="en-US">
                <a:solidFill>
                  <a:schemeClr val="dk1"/>
                </a:solidFill>
                <a:latin typeface="Calibri"/>
                <a:ea typeface="Calibri"/>
                <a:cs typeface="Calibri"/>
                <a:sym typeface="Calibri"/>
              </a:rPr>
              <a:t> — they move almost identically. However, the </a:t>
            </a:r>
            <a:r>
              <a:rPr b="1" lang="en-US">
                <a:solidFill>
                  <a:schemeClr val="dk1"/>
                </a:solidFill>
                <a:latin typeface="Calibri"/>
                <a:ea typeface="Calibri"/>
                <a:cs typeface="Calibri"/>
                <a:sym typeface="Calibri"/>
              </a:rPr>
              <a:t>Brent-WTI spread</a:t>
            </a:r>
            <a:r>
              <a:rPr lang="en-US">
                <a:solidFill>
                  <a:schemeClr val="dk1"/>
                </a:solidFill>
                <a:latin typeface="Calibri"/>
                <a:ea typeface="Calibri"/>
                <a:cs typeface="Calibri"/>
                <a:sym typeface="Calibri"/>
              </a:rPr>
              <a:t> widens during supply disruptions (Brent trades at a premium during Middle East tensions due to shipping risk).</a:t>
            </a:r>
            <a:endParaRPr>
              <a:solidFill>
                <a:schemeClr val="dk1"/>
              </a:solidFill>
              <a:latin typeface="Calibri"/>
              <a:ea typeface="Calibri"/>
              <a:cs typeface="Calibri"/>
              <a:sym typeface="Calibri"/>
            </a:endParaRPr>
          </a:p>
          <a:p>
            <a:pPr indent="0" lvl="0" marL="0" rtl="0" algn="l">
              <a:lnSpc>
                <a:spcPct val="115000"/>
              </a:lnSpc>
              <a:spcBef>
                <a:spcPts val="200"/>
              </a:spcBef>
              <a:spcAft>
                <a:spcPts val="0"/>
              </a:spcAft>
              <a:buNone/>
            </a:pPr>
            <a:r>
              <a:t/>
            </a:r>
            <a:endParaRPr>
              <a:solidFill>
                <a:schemeClr val="dk1"/>
              </a:solidFill>
              <a:highlight>
                <a:srgbClr val="FFFFFF"/>
              </a:highlight>
              <a:latin typeface="Calibri"/>
              <a:ea typeface="Calibri"/>
              <a:cs typeface="Calibri"/>
              <a:sym typeface="Calibri"/>
            </a:endParaRPr>
          </a:p>
          <a:p>
            <a:pPr indent="0" lvl="0" marL="0" rtl="0" algn="l">
              <a:lnSpc>
                <a:spcPct val="115000"/>
              </a:lnSpc>
              <a:spcBef>
                <a:spcPts val="200"/>
              </a:spcBef>
              <a:spcAft>
                <a:spcPts val="0"/>
              </a:spcAft>
              <a:buNone/>
            </a:pPr>
            <a:r>
              <a:t/>
            </a:r>
            <a:endParaRPr>
              <a:solidFill>
                <a:schemeClr val="dk1"/>
              </a:solidFill>
              <a:highlight>
                <a:srgbClr val="FFFFFF"/>
              </a:highlight>
              <a:latin typeface="Calibri"/>
              <a:ea typeface="Calibri"/>
              <a:cs typeface="Calibri"/>
              <a:sym typeface="Calibri"/>
            </a:endParaRPr>
          </a:p>
          <a:p>
            <a:pPr indent="0" lvl="0" marL="0" rtl="0" algn="l">
              <a:lnSpc>
                <a:spcPct val="115000"/>
              </a:lnSpc>
              <a:spcBef>
                <a:spcPts val="200"/>
              </a:spcBef>
              <a:spcAft>
                <a:spcPts val="200"/>
              </a:spcAft>
              <a:buNone/>
            </a:pPr>
            <a:r>
              <a:rPr b="1" lang="en-US">
                <a:solidFill>
                  <a:schemeClr val="dk1"/>
                </a:solidFill>
                <a:latin typeface="Calibri"/>
                <a:ea typeface="Calibri"/>
                <a:cs typeface="Calibri"/>
                <a:sym typeface="Calibri"/>
              </a:rPr>
              <a:t>Conclusion:</a:t>
            </a:r>
            <a:r>
              <a:rPr lang="en-US">
                <a:solidFill>
                  <a:schemeClr val="dk1"/>
                </a:solidFill>
                <a:latin typeface="Calibri"/>
                <a:ea typeface="Calibri"/>
                <a:cs typeface="Calibri"/>
                <a:sym typeface="Calibri"/>
              </a:rPr>
              <a:t> For global analysis, Brent is the more representative benchmark. WTI is more sensitive to US domestic inventory and pipeline infrastructure.</a:t>
            </a:r>
            <a:endParaRPr>
              <a:solidFill>
                <a:schemeClr val="dk1"/>
              </a:solidFill>
              <a:latin typeface="Calibri"/>
              <a:ea typeface="Calibri"/>
              <a:cs typeface="Calibri"/>
              <a:sym typeface="Calibri"/>
            </a:endParaRPr>
          </a:p>
        </p:txBody>
      </p:sp>
      <p:pic>
        <p:nvPicPr>
          <p:cNvPr id="269" name="Google Shape;269;g3d26b78a17e_0_197"/>
          <p:cNvPicPr preferRelativeResize="0"/>
          <p:nvPr/>
        </p:nvPicPr>
        <p:blipFill>
          <a:blip r:embed="rId3">
            <a:alphaModFix/>
          </a:blip>
          <a:stretch>
            <a:fillRect/>
          </a:stretch>
        </p:blipFill>
        <p:spPr>
          <a:xfrm>
            <a:off x="4375000" y="1039975"/>
            <a:ext cx="4704050" cy="3797001"/>
          </a:xfrm>
          <a:prstGeom prst="rect">
            <a:avLst/>
          </a:prstGeom>
          <a:noFill/>
          <a:ln>
            <a:noFill/>
          </a:ln>
        </p:spPr>
      </p:pic>
      <p:sp>
        <p:nvSpPr>
          <p:cNvPr id="270" name="Google Shape;270;g3d26b78a17e_0_197"/>
          <p:cNvSpPr txBox="1"/>
          <p:nvPr/>
        </p:nvSpPr>
        <p:spPr>
          <a:xfrm>
            <a:off x="139025" y="746850"/>
            <a:ext cx="7080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chemeClr val="dk1"/>
                </a:solidFill>
                <a:latin typeface="Roboto"/>
                <a:ea typeface="Roboto"/>
                <a:cs typeface="Roboto"/>
                <a:sym typeface="Roboto"/>
              </a:rPr>
              <a:t>Finding 2: Brent and WTI Are Highly Correlated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75" name="Shape 275"/>
        <p:cNvGrpSpPr/>
        <p:nvPr/>
      </p:nvGrpSpPr>
      <p:grpSpPr>
        <a:xfrm>
          <a:off x="0" y="0"/>
          <a:ext cx="0" cy="0"/>
          <a:chOff x="0" y="0"/>
          <a:chExt cx="0" cy="0"/>
        </a:xfrm>
      </p:grpSpPr>
      <p:sp>
        <p:nvSpPr>
          <p:cNvPr id="276" name="Google Shape;276;g3d26b78a17e_0_2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d26b78a17e_0_2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78" name="Google Shape;278;g3d26b78a17e_0_234"/>
          <p:cNvSpPr txBox="1"/>
          <p:nvPr/>
        </p:nvSpPr>
        <p:spPr>
          <a:xfrm>
            <a:off x="139025" y="624875"/>
            <a:ext cx="3996000" cy="38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a:solidFill>
                  <a:schemeClr val="dk1"/>
                </a:solidFill>
                <a:latin typeface="Calibri"/>
                <a:ea typeface="Calibri"/>
                <a:cs typeface="Calibri"/>
                <a:sym typeface="Calibri"/>
              </a:rPr>
              <a:t>Finding 3: VIX and Oil Have a Complex, Non-Linear Relationship</a:t>
            </a:r>
            <a:endParaRPr b="1">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lang="en-US" sz="1200">
                <a:solidFill>
                  <a:schemeClr val="dk1"/>
                </a:solidFill>
                <a:latin typeface="Calibri"/>
                <a:ea typeface="Calibri"/>
                <a:cs typeface="Calibri"/>
                <a:sym typeface="Calibri"/>
              </a:rPr>
              <a:t>The VIX (CBOE Volatility Index) is a real-time market index representing the market's expectation of 30-day forward-looking volatility- Gauges market. It measures expected, not actual, volatility derived from S&amp;P 500 index option prices. </a:t>
            </a:r>
            <a:endParaRPr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200">
                <a:solidFill>
                  <a:schemeClr val="dk1"/>
                </a:solidFill>
                <a:latin typeface="Calibri"/>
                <a:ea typeface="Calibri"/>
                <a:cs typeface="Calibri"/>
                <a:sym typeface="Calibri"/>
              </a:rPr>
              <a:t>The VIX vs Brent scatter plot shows:</a:t>
            </a:r>
            <a:endParaRPr sz="1200">
              <a:solidFill>
                <a:schemeClr val="dk1"/>
              </a:solidFill>
              <a:latin typeface="Calibri"/>
              <a:ea typeface="Calibri"/>
              <a:cs typeface="Calibri"/>
              <a:sym typeface="Calibri"/>
            </a:endParaRPr>
          </a:p>
          <a:p>
            <a:pPr indent="-304800" lvl="0" marL="457200" rtl="0" algn="l">
              <a:lnSpc>
                <a:spcPct val="115000"/>
              </a:lnSpc>
              <a:spcBef>
                <a:spcPts val="100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Low VIX (calm markets)</a:t>
            </a:r>
            <a:r>
              <a:rPr lang="en-US" sz="1200">
                <a:solidFill>
                  <a:schemeClr val="dk1"/>
                </a:solidFill>
                <a:latin typeface="Calibri"/>
                <a:ea typeface="Calibri"/>
                <a:cs typeface="Calibri"/>
                <a:sym typeface="Calibri"/>
              </a:rPr>
              <a:t> → Oil prices are stable to rising (risk-on environment supports demand)</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High VIX spikes (&gt;30)</a:t>
            </a:r>
            <a:r>
              <a:rPr lang="en-US" sz="1200">
                <a:solidFill>
                  <a:schemeClr val="dk1"/>
                </a:solidFill>
                <a:latin typeface="Calibri"/>
                <a:ea typeface="Calibri"/>
                <a:cs typeface="Calibri"/>
                <a:sym typeface="Calibri"/>
              </a:rPr>
              <a:t> → Oil prices fall sharply (recession fear reduces demand)</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Exception:</a:t>
            </a:r>
            <a:r>
              <a:rPr lang="en-US" sz="1200">
                <a:solidFill>
                  <a:schemeClr val="dk1"/>
                </a:solidFill>
                <a:latin typeface="Calibri"/>
                <a:ea typeface="Calibri"/>
                <a:cs typeface="Calibri"/>
                <a:sym typeface="Calibri"/>
              </a:rPr>
              <a:t> The 2022 Ukraine war produced </a:t>
            </a:r>
            <a:r>
              <a:rPr b="1" lang="en-US" sz="1200">
                <a:solidFill>
                  <a:schemeClr val="dk1"/>
                </a:solidFill>
                <a:latin typeface="Calibri"/>
                <a:ea typeface="Calibri"/>
                <a:cs typeface="Calibri"/>
                <a:sym typeface="Calibri"/>
              </a:rPr>
              <a:t>high VIX AND high oil</a:t>
            </a:r>
            <a:r>
              <a:rPr lang="en-US" sz="1200">
                <a:solidFill>
                  <a:schemeClr val="dk1"/>
                </a:solidFill>
                <a:latin typeface="Calibri"/>
                <a:ea typeface="Calibri"/>
                <a:cs typeface="Calibri"/>
                <a:sym typeface="Calibri"/>
              </a:rPr>
              <a:t> simultaneously — supply fear overrode demand fear</a:t>
            </a:r>
            <a:endParaRPr b="1" sz="1200">
              <a:solidFill>
                <a:schemeClr val="dk1"/>
              </a:solidFill>
              <a:latin typeface="Calibri"/>
              <a:ea typeface="Calibri"/>
              <a:cs typeface="Calibri"/>
              <a:sym typeface="Calibri"/>
            </a:endParaRPr>
          </a:p>
        </p:txBody>
      </p:sp>
      <p:pic>
        <p:nvPicPr>
          <p:cNvPr id="279" name="Google Shape;279;g3d26b78a17e_0_234"/>
          <p:cNvPicPr preferRelativeResize="0"/>
          <p:nvPr/>
        </p:nvPicPr>
        <p:blipFill>
          <a:blip r:embed="rId3">
            <a:alphaModFix/>
          </a:blip>
          <a:stretch>
            <a:fillRect/>
          </a:stretch>
        </p:blipFill>
        <p:spPr>
          <a:xfrm>
            <a:off x="4286850" y="923025"/>
            <a:ext cx="4358975" cy="3084426"/>
          </a:xfrm>
          <a:prstGeom prst="rect">
            <a:avLst/>
          </a:prstGeom>
          <a:noFill/>
          <a:ln>
            <a:noFill/>
          </a:ln>
        </p:spPr>
      </p:pic>
      <p:sp>
        <p:nvSpPr>
          <p:cNvPr id="280" name="Google Shape;280;g3d26b78a17e_0_234"/>
          <p:cNvSpPr txBox="1"/>
          <p:nvPr/>
        </p:nvSpPr>
        <p:spPr>
          <a:xfrm>
            <a:off x="183751" y="4420265"/>
            <a:ext cx="85068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b="1" lang="en-US" sz="1200">
                <a:solidFill>
                  <a:schemeClr val="dk1"/>
                </a:solidFill>
                <a:latin typeface="Calibri"/>
                <a:ea typeface="Calibri"/>
                <a:cs typeface="Calibri"/>
                <a:sym typeface="Calibri"/>
              </a:rPr>
              <a:t>Conclusion:</a:t>
            </a:r>
            <a:r>
              <a:rPr lang="en-US" sz="1200">
                <a:solidFill>
                  <a:schemeClr val="dk1"/>
                </a:solidFill>
                <a:latin typeface="Calibri"/>
                <a:ea typeface="Calibri"/>
                <a:cs typeface="Calibri"/>
                <a:sym typeface="Calibri"/>
              </a:rPr>
              <a:t> VIX is a useful risk signal for oil but not a reliable standalone predictor. Geopolitical supply shocks break the typical inverse relationship.</a:t>
            </a:r>
            <a:endParaRPr b="1"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85" name="Shape 285"/>
        <p:cNvGrpSpPr/>
        <p:nvPr/>
      </p:nvGrpSpPr>
      <p:grpSpPr>
        <a:xfrm>
          <a:off x="0" y="0"/>
          <a:ext cx="0" cy="0"/>
          <a:chOff x="0" y="0"/>
          <a:chExt cx="0" cy="0"/>
        </a:xfrm>
      </p:grpSpPr>
      <p:sp>
        <p:nvSpPr>
          <p:cNvPr id="286" name="Google Shape;286;g3dccfc74559_2_1"/>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dccfc74559_2_1"/>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88" name="Google Shape;288;g3dccfc74559_2_1"/>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89" name="Google Shape;289;g3dccfc74559_2_1"/>
          <p:cNvSpPr txBox="1"/>
          <p:nvPr/>
        </p:nvSpPr>
        <p:spPr>
          <a:xfrm>
            <a:off x="0" y="626150"/>
            <a:ext cx="8842800" cy="170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600">
                <a:solidFill>
                  <a:schemeClr val="dk1"/>
                </a:solidFill>
                <a:latin typeface="Calibri"/>
                <a:ea typeface="Calibri"/>
                <a:cs typeface="Calibri"/>
                <a:sym typeface="Calibri"/>
              </a:rPr>
              <a:t>F</a:t>
            </a:r>
            <a:r>
              <a:rPr b="1" lang="en-US" sz="1600">
                <a:solidFill>
                  <a:schemeClr val="dk1"/>
                </a:solidFill>
                <a:latin typeface="Calibri"/>
                <a:ea typeface="Calibri"/>
                <a:cs typeface="Calibri"/>
                <a:sym typeface="Calibri"/>
              </a:rPr>
              <a:t>inding 4: The GPR Index Leads Price Spikes</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100">
                <a:solidFill>
                  <a:schemeClr val="dk1"/>
                </a:solidFill>
                <a:latin typeface="Calibri"/>
                <a:ea typeface="Calibri"/>
                <a:cs typeface="Calibri"/>
                <a:sym typeface="Calibri"/>
              </a:rPr>
              <a:t>The Geopolitical Risk (GPR) Index, measures global tension by tracking newspaper coverage of war, terrorism, and threats. </a:t>
            </a:r>
            <a:r>
              <a:rPr lang="en-US" sz="1000">
                <a:solidFill>
                  <a:schemeClr val="dk1"/>
                </a:solidFill>
                <a:latin typeface="Calibri"/>
                <a:ea typeface="Calibri"/>
                <a:cs typeface="Calibri"/>
                <a:sym typeface="Calibri"/>
              </a:rPr>
              <a:t>T</a:t>
            </a:r>
            <a:r>
              <a:rPr lang="en-US" sz="1000">
                <a:solidFill>
                  <a:schemeClr val="dk1"/>
                </a:solidFill>
                <a:latin typeface="Calibri"/>
                <a:ea typeface="Calibri"/>
                <a:cs typeface="Calibri"/>
                <a:sym typeface="Calibri"/>
              </a:rPr>
              <a:t>h</a:t>
            </a:r>
            <a:r>
              <a:rPr lang="en-US" sz="1100">
                <a:solidFill>
                  <a:schemeClr val="dk1"/>
                </a:solidFill>
                <a:latin typeface="Calibri"/>
                <a:ea typeface="Calibri"/>
                <a:cs typeface="Calibri"/>
                <a:sym typeface="Calibri"/>
              </a:rPr>
              <a:t>e GPR index tends to </a:t>
            </a:r>
            <a:r>
              <a:rPr b="1" lang="en-US" sz="1100">
                <a:solidFill>
                  <a:schemeClr val="dk1"/>
                </a:solidFill>
                <a:latin typeface="Calibri"/>
                <a:ea typeface="Calibri"/>
                <a:cs typeface="Calibri"/>
                <a:sym typeface="Calibri"/>
              </a:rPr>
              <a:t>spike before or simultaneously</a:t>
            </a:r>
            <a:r>
              <a:rPr lang="en-US" sz="1100">
                <a:solidFill>
                  <a:schemeClr val="dk1"/>
                </a:solidFill>
                <a:latin typeface="Calibri"/>
                <a:ea typeface="Calibri"/>
                <a:cs typeface="Calibri"/>
                <a:sym typeface="Calibri"/>
              </a:rPr>
              <a:t> with oil price jumps, particularly during:</a:t>
            </a:r>
            <a:endParaRPr sz="1100">
              <a:solidFill>
                <a:schemeClr val="dk1"/>
              </a:solidFill>
              <a:latin typeface="Calibri"/>
              <a:ea typeface="Calibri"/>
              <a:cs typeface="Calibri"/>
              <a:sym typeface="Calibri"/>
            </a:endParaRPr>
          </a:p>
          <a:p>
            <a:pPr indent="-298450" lvl="0" marL="457200" rtl="0" algn="l">
              <a:lnSpc>
                <a:spcPct val="115000"/>
              </a:lnSpc>
              <a:spcBef>
                <a:spcPts val="10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Middle East conflicts (Syria 2011, Yemen 2015, Gaza 2023)</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Russia-related events (Crimea 2014, Ukraine 2022)</a:t>
            </a:r>
            <a:endParaRPr sz="1100">
              <a:solidFill>
                <a:schemeClr val="dk1"/>
              </a:solidFill>
              <a:latin typeface="Calibri"/>
              <a:ea typeface="Calibri"/>
              <a:cs typeface="Calibri"/>
              <a:sym typeface="Calibri"/>
            </a:endParaRPr>
          </a:p>
          <a:p>
            <a:pPr indent="0" lvl="0" marL="381000" marR="381000" rtl="0" algn="l">
              <a:lnSpc>
                <a:spcPct val="115000"/>
              </a:lnSpc>
              <a:spcBef>
                <a:spcPts val="1000"/>
              </a:spcBef>
              <a:spcAft>
                <a:spcPts val="200"/>
              </a:spcAft>
              <a:buNone/>
            </a:pPr>
            <a:r>
              <a:t/>
            </a:r>
            <a:endParaRPr b="1" sz="1000">
              <a:solidFill>
                <a:schemeClr val="dk1"/>
              </a:solidFill>
              <a:latin typeface="Calibri"/>
              <a:ea typeface="Calibri"/>
              <a:cs typeface="Calibri"/>
              <a:sym typeface="Calibri"/>
            </a:endParaRPr>
          </a:p>
        </p:txBody>
      </p:sp>
      <p:pic>
        <p:nvPicPr>
          <p:cNvPr id="290" name="Google Shape;290;g3dccfc74559_2_1"/>
          <p:cNvPicPr preferRelativeResize="0"/>
          <p:nvPr/>
        </p:nvPicPr>
        <p:blipFill>
          <a:blip r:embed="rId3">
            <a:alphaModFix/>
          </a:blip>
          <a:stretch>
            <a:fillRect/>
          </a:stretch>
        </p:blipFill>
        <p:spPr>
          <a:xfrm>
            <a:off x="307875" y="2024855"/>
            <a:ext cx="8535024" cy="2504150"/>
          </a:xfrm>
          <a:prstGeom prst="rect">
            <a:avLst/>
          </a:prstGeom>
          <a:noFill/>
          <a:ln>
            <a:noFill/>
          </a:ln>
        </p:spPr>
      </p:pic>
      <p:sp>
        <p:nvSpPr>
          <p:cNvPr id="291" name="Google Shape;291;g3dccfc74559_2_1"/>
          <p:cNvSpPr txBox="1"/>
          <p:nvPr/>
        </p:nvSpPr>
        <p:spPr>
          <a:xfrm>
            <a:off x="14909" y="4562052"/>
            <a:ext cx="9010200" cy="75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100">
                <a:solidFill>
                  <a:schemeClr val="dk1"/>
                </a:solidFill>
                <a:latin typeface="Calibri"/>
                <a:ea typeface="Calibri"/>
                <a:cs typeface="Calibri"/>
                <a:sym typeface="Calibri"/>
              </a:rPr>
              <a:t>Conclusion:</a:t>
            </a:r>
            <a:r>
              <a:rPr lang="en-US" sz="1100">
                <a:solidFill>
                  <a:schemeClr val="dk1"/>
                </a:solidFill>
                <a:latin typeface="Calibri"/>
                <a:ea typeface="Calibri"/>
                <a:cs typeface="Calibri"/>
                <a:sym typeface="Calibri"/>
              </a:rPr>
              <a:t> GPR index is a useful early-warning signal. An elevated GPR (&gt;200) has historically preceded a Brent price increase of 10–25% within 30–60 days, particularly when Middle East supply routes are at risk.</a:t>
            </a:r>
            <a:endParaRPr sz="1100">
              <a:solidFill>
                <a:schemeClr val="dk1"/>
              </a:solidFill>
              <a:latin typeface="Calibri"/>
              <a:ea typeface="Calibri"/>
              <a:cs typeface="Calibri"/>
              <a:sym typeface="Calibri"/>
            </a:endParaRPr>
          </a:p>
          <a:p>
            <a:pPr indent="0" lvl="0" marL="381000" marR="381000" rtl="0" algn="l">
              <a:lnSpc>
                <a:spcPct val="115000"/>
              </a:lnSpc>
              <a:spcBef>
                <a:spcPts val="200"/>
              </a:spcBef>
              <a:spcAft>
                <a:spcPts val="200"/>
              </a:spcAft>
              <a:buNone/>
            </a:pPr>
            <a:r>
              <a:t/>
            </a:r>
            <a:endParaRPr b="1"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6" name="Shape 296"/>
        <p:cNvGrpSpPr/>
        <p:nvPr/>
      </p:nvGrpSpPr>
      <p:grpSpPr>
        <a:xfrm>
          <a:off x="0" y="0"/>
          <a:ext cx="0" cy="0"/>
          <a:chOff x="0" y="0"/>
          <a:chExt cx="0" cy="0"/>
        </a:xfrm>
      </p:grpSpPr>
      <p:sp>
        <p:nvSpPr>
          <p:cNvPr id="297" name="Google Shape;297;g3dd1eb556c5_4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dd1eb556c5_4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99" name="Google Shape;299;g3dd1eb556c5_4_0"/>
          <p:cNvSpPr txBox="1"/>
          <p:nvPr/>
        </p:nvSpPr>
        <p:spPr>
          <a:xfrm>
            <a:off x="0" y="0"/>
            <a:ext cx="9144000" cy="186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Calibri"/>
                <a:ea typeface="Calibri"/>
                <a:cs typeface="Calibri"/>
                <a:sym typeface="Calibri"/>
              </a:rPr>
              <a:t>Finding 5: The DXY (US Dollar) typically has an Inverse Relationship with Oil</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200">
                <a:solidFill>
                  <a:schemeClr val="dk1"/>
                </a:solidFill>
                <a:latin typeface="Calibri"/>
                <a:ea typeface="Calibri"/>
                <a:cs typeface="Calibri"/>
                <a:sym typeface="Calibri"/>
              </a:rPr>
              <a:t>Since oil is priced in USD, a stronger dollar makes oil more expensive for non-US buyers, suppressing demand:</a:t>
            </a:r>
            <a:endParaRPr sz="1200">
              <a:solidFill>
                <a:schemeClr val="dk1"/>
              </a:solidFill>
              <a:latin typeface="Calibri"/>
              <a:ea typeface="Calibri"/>
              <a:cs typeface="Calibri"/>
              <a:sym typeface="Calibri"/>
            </a:endParaRPr>
          </a:p>
          <a:p>
            <a:pPr indent="-304800" lvl="0" marL="457200" rtl="0" algn="l">
              <a:lnSpc>
                <a:spcPct val="115000"/>
              </a:lnSpc>
              <a:spcBef>
                <a:spcPts val="1000"/>
              </a:spcBef>
              <a:spcAft>
                <a:spcPts val="0"/>
              </a:spcAft>
              <a:buClr>
                <a:schemeClr val="dk1"/>
              </a:buClr>
              <a:buSzPts val="1200"/>
              <a:buFont typeface="Roboto"/>
              <a:buChar char="●"/>
            </a:pPr>
            <a:r>
              <a:rPr lang="en-US" sz="1200">
                <a:solidFill>
                  <a:schemeClr val="dk1"/>
                </a:solidFill>
                <a:latin typeface="Calibri"/>
                <a:ea typeface="Calibri"/>
                <a:cs typeface="Calibri"/>
                <a:sym typeface="Calibri"/>
              </a:rPr>
              <a:t>DXY correlation with Brent: approximately </a:t>
            </a:r>
            <a:r>
              <a:rPr b="1" lang="en-US" sz="1200">
                <a:solidFill>
                  <a:schemeClr val="dk1"/>
                </a:solidFill>
                <a:latin typeface="Calibri"/>
                <a:ea typeface="Calibri"/>
                <a:cs typeface="Calibri"/>
                <a:sym typeface="Calibri"/>
              </a:rPr>
              <a:t>-0.40 to -0.55</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This relationship was most pronounced during 2014–2016 and 2022</a:t>
            </a:r>
            <a:endParaRPr b="1" sz="1200">
              <a:solidFill>
                <a:schemeClr val="dk1"/>
              </a:solidFill>
              <a:latin typeface="Calibri"/>
              <a:ea typeface="Calibri"/>
              <a:cs typeface="Calibri"/>
              <a:sym typeface="Calibri"/>
            </a:endParaRPr>
          </a:p>
        </p:txBody>
      </p:sp>
      <p:pic>
        <p:nvPicPr>
          <p:cNvPr id="300" name="Google Shape;300;g3dd1eb556c5_4_0"/>
          <p:cNvPicPr preferRelativeResize="0"/>
          <p:nvPr/>
        </p:nvPicPr>
        <p:blipFill>
          <a:blip r:embed="rId3">
            <a:alphaModFix/>
          </a:blip>
          <a:stretch>
            <a:fillRect/>
          </a:stretch>
        </p:blipFill>
        <p:spPr>
          <a:xfrm>
            <a:off x="318450" y="1799800"/>
            <a:ext cx="8512874" cy="2116950"/>
          </a:xfrm>
          <a:prstGeom prst="rect">
            <a:avLst/>
          </a:prstGeom>
          <a:noFill/>
          <a:ln>
            <a:noFill/>
          </a:ln>
        </p:spPr>
      </p:pic>
      <p:sp>
        <p:nvSpPr>
          <p:cNvPr id="301" name="Google Shape;301;g3dd1eb556c5_4_0"/>
          <p:cNvSpPr txBox="1"/>
          <p:nvPr/>
        </p:nvSpPr>
        <p:spPr>
          <a:xfrm>
            <a:off x="-74525" y="4105644"/>
            <a:ext cx="901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Inverse Relationship</a:t>
            </a:r>
            <a:r>
              <a:rPr lang="en-US" sz="1200">
                <a:latin typeface="Calibri"/>
                <a:ea typeface="Calibri"/>
                <a:cs typeface="Calibri"/>
                <a:sym typeface="Calibri"/>
              </a:rPr>
              <a:t>: When the USD strengthens, it makes oil more expensive for buyers using other currencies, reducing global demand and applying downward pressure on prices. </a:t>
            </a:r>
            <a:r>
              <a:rPr lang="en-US" sz="1200">
                <a:solidFill>
                  <a:schemeClr val="dk1"/>
                </a:solidFill>
                <a:latin typeface="Calibri"/>
                <a:ea typeface="Calibri"/>
                <a:cs typeface="Calibri"/>
                <a:sym typeface="Calibri"/>
              </a:rPr>
              <a:t>Dollar strength acts as a dampener on oil prices during non-crisis periods. </a:t>
            </a:r>
            <a:endParaRPr sz="1200">
              <a:latin typeface="Calibri"/>
              <a:ea typeface="Calibri"/>
              <a:cs typeface="Calibri"/>
              <a:sym typeface="Calibri"/>
            </a:endParaRPr>
          </a:p>
        </p:txBody>
      </p:sp>
      <p:sp>
        <p:nvSpPr>
          <p:cNvPr id="302" name="Google Shape;302;g3dd1eb556c5_4_0"/>
          <p:cNvSpPr txBox="1"/>
          <p:nvPr/>
        </p:nvSpPr>
        <p:spPr>
          <a:xfrm>
            <a:off x="-52318" y="4529774"/>
            <a:ext cx="891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Ex</a:t>
            </a:r>
            <a:r>
              <a:rPr b="1" lang="en-US" sz="1200">
                <a:latin typeface="Calibri"/>
                <a:ea typeface="Calibri"/>
                <a:cs typeface="Calibri"/>
                <a:sym typeface="Calibri"/>
              </a:rPr>
              <a:t>ceptions (Crises):</a:t>
            </a:r>
            <a:r>
              <a:rPr lang="en-US" sz="1200">
                <a:latin typeface="Calibri"/>
                <a:ea typeface="Calibri"/>
                <a:cs typeface="Calibri"/>
                <a:sym typeface="Calibri"/>
              </a:rPr>
              <a:t> In times of major supply shocks, war, or high geopolitical risk (e.g., conflicts in the Middle East), both the dollar and oil prices may rise simultaneously. This is often because the dollar is viewed as a safe haven, temporarily breaking the inverse correlation.</a:t>
            </a:r>
            <a:endParaRPr sz="1200">
              <a:latin typeface="Calibri"/>
              <a:ea typeface="Calibri"/>
              <a:cs typeface="Calibri"/>
              <a:sym typeface="Calibri"/>
            </a:endParaRPr>
          </a:p>
        </p:txBody>
      </p:sp>
      <p:sp>
        <p:nvSpPr>
          <p:cNvPr id="303" name="Google Shape;303;g3dd1eb556c5_4_0"/>
          <p:cNvSpPr txBox="1"/>
          <p:nvPr/>
        </p:nvSpPr>
        <p:spPr>
          <a:xfrm>
            <a:off x="-69187" y="3857175"/>
            <a:ext cx="23406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latin typeface="Calibri"/>
                <a:ea typeface="Calibri"/>
                <a:cs typeface="Calibri"/>
                <a:sym typeface="Calibri"/>
              </a:rPr>
              <a:t>Conclusion</a:t>
            </a:r>
            <a:endParaRPr b="1" sz="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8" name="Shape 308"/>
        <p:cNvGrpSpPr/>
        <p:nvPr/>
      </p:nvGrpSpPr>
      <p:grpSpPr>
        <a:xfrm>
          <a:off x="0" y="0"/>
          <a:ext cx="0" cy="0"/>
          <a:chOff x="0" y="0"/>
          <a:chExt cx="0" cy="0"/>
        </a:xfrm>
      </p:grpSpPr>
      <p:sp>
        <p:nvSpPr>
          <p:cNvPr id="309" name="Google Shape;309;g3d26b78a17e_0_22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d26b78a17e_0_22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311" name="Google Shape;311;g3d26b78a17e_0_22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12" name="Google Shape;312;g3d26b78a17e_0_222"/>
          <p:cNvSpPr txBox="1"/>
          <p:nvPr/>
        </p:nvSpPr>
        <p:spPr>
          <a:xfrm>
            <a:off x="0" y="0"/>
            <a:ext cx="9144000" cy="104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Calibri"/>
              <a:ea typeface="Calibri"/>
              <a:cs typeface="Calibri"/>
              <a:sym typeface="Calibri"/>
            </a:endParaRPr>
          </a:p>
          <a:p>
            <a:pPr indent="0" lvl="0" marL="0" rtl="0" algn="l">
              <a:lnSpc>
                <a:spcPct val="115000"/>
              </a:lnSpc>
              <a:spcBef>
                <a:spcPts val="200"/>
              </a:spcBef>
              <a:spcAft>
                <a:spcPts val="0"/>
              </a:spcAft>
              <a:buNone/>
            </a:pPr>
            <a:r>
              <a:t/>
            </a:r>
            <a:endParaRPr sz="1000">
              <a:solidFill>
                <a:schemeClr val="dk1"/>
              </a:solidFill>
              <a:latin typeface="Calibri"/>
              <a:ea typeface="Calibri"/>
              <a:cs typeface="Calibri"/>
              <a:sym typeface="Calibri"/>
            </a:endParaRPr>
          </a:p>
          <a:p>
            <a:pPr indent="0" lvl="0" marL="0" rtl="0" algn="l">
              <a:lnSpc>
                <a:spcPct val="100000"/>
              </a:lnSpc>
              <a:spcBef>
                <a:spcPts val="1800"/>
              </a:spcBef>
              <a:spcAft>
                <a:spcPts val="400"/>
              </a:spcAft>
              <a:buNone/>
            </a:pPr>
            <a:r>
              <a:rPr b="1" lang="en-US" sz="1600">
                <a:solidFill>
                  <a:schemeClr val="dk1"/>
                </a:solidFill>
                <a:latin typeface="Calibri"/>
                <a:ea typeface="Calibri"/>
                <a:cs typeface="Calibri"/>
                <a:sym typeface="Calibri"/>
              </a:rPr>
              <a:t>F</a:t>
            </a:r>
            <a:r>
              <a:rPr b="1" lang="en-US" sz="1600">
                <a:solidFill>
                  <a:schemeClr val="dk1"/>
                </a:solidFill>
                <a:latin typeface="Calibri"/>
                <a:ea typeface="Calibri"/>
                <a:cs typeface="Calibri"/>
                <a:sym typeface="Calibri"/>
              </a:rPr>
              <a:t>inding 6: Return Volatility Clusters Around Events</a:t>
            </a:r>
            <a:endParaRPr b="1" sz="1000">
              <a:solidFill>
                <a:schemeClr val="dk1"/>
              </a:solidFill>
              <a:latin typeface="Calibri"/>
              <a:ea typeface="Calibri"/>
              <a:cs typeface="Calibri"/>
              <a:sym typeface="Calibri"/>
            </a:endParaRPr>
          </a:p>
        </p:txBody>
      </p:sp>
      <p:pic>
        <p:nvPicPr>
          <p:cNvPr id="313" name="Google Shape;313;g3d26b78a17e_0_222"/>
          <p:cNvPicPr preferRelativeResize="0"/>
          <p:nvPr/>
        </p:nvPicPr>
        <p:blipFill>
          <a:blip r:embed="rId3">
            <a:alphaModFix/>
          </a:blip>
          <a:stretch>
            <a:fillRect/>
          </a:stretch>
        </p:blipFill>
        <p:spPr>
          <a:xfrm>
            <a:off x="179174" y="1833997"/>
            <a:ext cx="8696199" cy="2455525"/>
          </a:xfrm>
          <a:prstGeom prst="rect">
            <a:avLst/>
          </a:prstGeom>
          <a:noFill/>
          <a:ln>
            <a:noFill/>
          </a:ln>
        </p:spPr>
      </p:pic>
      <p:sp>
        <p:nvSpPr>
          <p:cNvPr id="314" name="Google Shape;314;g3d26b78a17e_0_222"/>
          <p:cNvSpPr txBox="1"/>
          <p:nvPr/>
        </p:nvSpPr>
        <p:spPr>
          <a:xfrm>
            <a:off x="139025" y="909436"/>
            <a:ext cx="9005100" cy="369300"/>
          </a:xfrm>
          <a:prstGeom prst="rect">
            <a:avLst/>
          </a:prstGeom>
          <a:noFill/>
          <a:ln>
            <a:noFill/>
          </a:ln>
        </p:spPr>
        <p:txBody>
          <a:bodyPr anchorCtr="0" anchor="t" bIns="91425" lIns="91425" spcFirstLastPara="1" rIns="91425" wrap="square" tIns="91425">
            <a:spAutoFit/>
          </a:bodyPr>
          <a:lstStyle/>
          <a:p>
            <a:pPr indent="0" lvl="0" marL="0" rtl="0" algn="l">
              <a:spcBef>
                <a:spcPts val="1800"/>
              </a:spcBef>
              <a:spcAft>
                <a:spcPts val="400"/>
              </a:spcAft>
              <a:buNone/>
            </a:pPr>
            <a:r>
              <a:rPr b="1" lang="en-US" sz="1200">
                <a:solidFill>
                  <a:schemeClr val="dk1"/>
                </a:solidFill>
                <a:latin typeface="Calibri"/>
                <a:ea typeface="Calibri"/>
                <a:cs typeface="Calibri"/>
                <a:sym typeface="Calibri"/>
              </a:rPr>
              <a:t>Daily Retuns : </a:t>
            </a:r>
            <a:r>
              <a:rPr lang="en-US" sz="1200">
                <a:solidFill>
                  <a:schemeClr val="dk1"/>
                </a:solidFill>
                <a:latin typeface="Calibri"/>
                <a:ea typeface="Calibri"/>
                <a:cs typeface="Calibri"/>
                <a:sym typeface="Calibri"/>
              </a:rPr>
              <a:t>change in the percentage change in the price of crude oil from one trading day's closing price to the next.</a:t>
            </a:r>
            <a:endParaRPr sz="1200">
              <a:solidFill>
                <a:schemeClr val="dk1"/>
              </a:solidFill>
              <a:latin typeface="Calibri"/>
              <a:ea typeface="Calibri"/>
              <a:cs typeface="Calibri"/>
              <a:sym typeface="Calibri"/>
            </a:endParaRPr>
          </a:p>
        </p:txBody>
      </p:sp>
      <p:sp>
        <p:nvSpPr>
          <p:cNvPr id="315" name="Google Shape;315;g3d26b78a17e_0_222"/>
          <p:cNvSpPr txBox="1"/>
          <p:nvPr/>
        </p:nvSpPr>
        <p:spPr>
          <a:xfrm>
            <a:off x="223900" y="4364667"/>
            <a:ext cx="8503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b="1" lang="en-US" sz="1200">
                <a:solidFill>
                  <a:schemeClr val="dk1"/>
                </a:solidFill>
                <a:latin typeface="Calibri"/>
                <a:ea typeface="Calibri"/>
                <a:cs typeface="Calibri"/>
                <a:sym typeface="Calibri"/>
              </a:rPr>
              <a:t>Conclusion:</a:t>
            </a:r>
            <a:r>
              <a:rPr lang="en-US" sz="1200">
                <a:solidFill>
                  <a:schemeClr val="dk1"/>
                </a:solidFill>
                <a:latin typeface="Calibri"/>
                <a:ea typeface="Calibri"/>
                <a:cs typeface="Calibri"/>
                <a:sym typeface="Calibri"/>
              </a:rPr>
              <a:t> Oil market risk is not constant — A standard deviation-based risk model would underestimate tail risk during geopolitical crises. Excellent measure for assessing the magnitude of price movements but does not indicate the direction of the price.</a:t>
            </a:r>
            <a:endParaRPr b="1" sz="1200">
              <a:solidFill>
                <a:schemeClr val="dk1"/>
              </a:solidFill>
              <a:latin typeface="Calibri"/>
              <a:ea typeface="Calibri"/>
              <a:cs typeface="Calibri"/>
              <a:sym typeface="Calibri"/>
            </a:endParaRPr>
          </a:p>
        </p:txBody>
      </p:sp>
      <p:sp>
        <p:nvSpPr>
          <p:cNvPr id="316" name="Google Shape;316;g3d26b78a17e_0_222"/>
          <p:cNvSpPr txBox="1"/>
          <p:nvPr/>
        </p:nvSpPr>
        <p:spPr>
          <a:xfrm>
            <a:off x="149160" y="1248908"/>
            <a:ext cx="8875500" cy="554100"/>
          </a:xfrm>
          <a:prstGeom prst="rect">
            <a:avLst/>
          </a:prstGeom>
          <a:noFill/>
          <a:ln>
            <a:noFill/>
          </a:ln>
        </p:spPr>
        <p:txBody>
          <a:bodyPr anchorCtr="0" anchor="t" bIns="91425" lIns="91425" spcFirstLastPara="1" rIns="91425" wrap="square" tIns="91425">
            <a:spAutoFit/>
          </a:bodyPr>
          <a:lstStyle/>
          <a:p>
            <a:pPr indent="0" lvl="0" marL="0" rtl="0" algn="l">
              <a:spcBef>
                <a:spcPts val="1800"/>
              </a:spcBef>
              <a:spcAft>
                <a:spcPts val="400"/>
              </a:spcAft>
              <a:buNone/>
            </a:pPr>
            <a:r>
              <a:rPr lang="en-US" sz="1200">
                <a:solidFill>
                  <a:schemeClr val="dk1"/>
                </a:solidFill>
                <a:latin typeface="Calibri"/>
                <a:ea typeface="Calibri"/>
                <a:cs typeface="Calibri"/>
                <a:sym typeface="Calibri"/>
              </a:rPr>
              <a:t>Brent and WTI daily returns show </a:t>
            </a:r>
            <a:r>
              <a:rPr b="1" lang="en-US" sz="1200">
                <a:solidFill>
                  <a:schemeClr val="dk1"/>
                </a:solidFill>
                <a:latin typeface="Calibri"/>
                <a:ea typeface="Calibri"/>
                <a:cs typeface="Calibri"/>
                <a:sym typeface="Calibri"/>
              </a:rPr>
              <a:t>volatility clustering</a:t>
            </a:r>
            <a:r>
              <a:rPr lang="en-US" sz="1200">
                <a:solidFill>
                  <a:schemeClr val="dk1"/>
                </a:solidFill>
                <a:latin typeface="Calibri"/>
                <a:ea typeface="Calibri"/>
                <a:cs typeface="Calibri"/>
                <a:sym typeface="Calibri"/>
              </a:rPr>
              <a:t> — large price swings follow other large swings, particularly around the 35 tagged geopolitical events. Calm periods (2017–2019) show returns within ±2%, while shock periods show ±10% daily moves.</a:t>
            </a: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21" name="Shape 321"/>
        <p:cNvGrpSpPr/>
        <p:nvPr/>
      </p:nvGrpSpPr>
      <p:grpSpPr>
        <a:xfrm>
          <a:off x="0" y="0"/>
          <a:ext cx="0" cy="0"/>
          <a:chOff x="0" y="0"/>
          <a:chExt cx="0" cy="0"/>
        </a:xfrm>
      </p:grpSpPr>
      <p:sp>
        <p:nvSpPr>
          <p:cNvPr id="322" name="Google Shape;322;g3dc9337976c_0_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c9337976c_0_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sp>
        <p:nvSpPr>
          <p:cNvPr id="324" name="Google Shape;324;g3dc9337976c_0_34"/>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25" name="Google Shape;325;g3dc9337976c_0_34"/>
          <p:cNvGraphicFramePr/>
          <p:nvPr/>
        </p:nvGraphicFramePr>
        <p:xfrm>
          <a:off x="271290" y="929776"/>
          <a:ext cx="3000000" cy="3000000"/>
        </p:xfrm>
        <a:graphic>
          <a:graphicData uri="http://schemas.openxmlformats.org/drawingml/2006/table">
            <a:tbl>
              <a:tblPr>
                <a:noFill/>
                <a:tableStyleId>{4D265C60-E324-44FD-8A71-C20D5EAC08D7}</a:tableStyleId>
              </a:tblPr>
              <a:tblGrid>
                <a:gridCol w="1044400"/>
                <a:gridCol w="805325"/>
                <a:gridCol w="1761625"/>
                <a:gridCol w="4353725"/>
              </a:tblGrid>
              <a:tr h="43290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a:t>
                      </a:r>
                      <a:r>
                        <a:rPr b="1" lang="en-US" sz="1100">
                          <a:solidFill>
                            <a:schemeClr val="dk1"/>
                          </a:solidFill>
                          <a:latin typeface="Calibri"/>
                          <a:ea typeface="Calibri"/>
                          <a:cs typeface="Calibri"/>
                          <a:sym typeface="Calibri"/>
                        </a:rPr>
                        <a:t> Header</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dates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Every row must have a date for time series analysis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duplicate dates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Duplicate dates would skew price averages and correlations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Brent prices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Missing prices break the line chart and correlation heatmap</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WTI prices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Same — both price series must be complete</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vix</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VIX values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3 (VIX vs Brent) requires complete VIX data</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gpr_index</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GPR values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4 (GPR leads spikes) requires complete GPR data</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bl>
          </a:graphicData>
        </a:graphic>
      </p:graphicFrame>
      <p:graphicFrame>
        <p:nvGraphicFramePr>
          <p:cNvPr id="326" name="Google Shape;326;g3dc9337976c_0_34"/>
          <p:cNvGraphicFramePr/>
          <p:nvPr/>
        </p:nvGraphicFramePr>
        <p:xfrm>
          <a:off x="288224" y="3460986"/>
          <a:ext cx="3000000" cy="3000000"/>
        </p:xfrm>
        <a:graphic>
          <a:graphicData uri="http://schemas.openxmlformats.org/drawingml/2006/table">
            <a:tbl>
              <a:tblPr>
                <a:noFill/>
                <a:tableStyleId>{4D265C60-E324-44FD-8A71-C20D5EAC08D7}</a:tableStyleId>
              </a:tblPr>
              <a:tblGrid>
                <a:gridCol w="1141925"/>
                <a:gridCol w="1208450"/>
                <a:gridCol w="2017800"/>
                <a:gridCol w="3957975"/>
              </a:tblGrid>
              <a:tr h="209550">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Column Header</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Test</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200">
                          <a:solidFill>
                            <a:schemeClr val="dk1"/>
                          </a:solidFill>
                          <a:latin typeface="Calibri"/>
                          <a:ea typeface="Calibri"/>
                          <a:cs typeface="Calibri"/>
                          <a:sym typeface="Calibri"/>
                        </a:rPr>
                        <a:t>Validation</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Description</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 missing event dates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Events without dates cannot be joined to oil prices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unique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One event per 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Prevents duplicate event markers on the price chart</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event_type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All events are categorised</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Needed for Power BI event type filter</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event_type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Only valid event categories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Events without category / blank validation</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event_severity</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All events have a severity score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Severity is used for filtering and colour coding in visuals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bl>
          </a:graphicData>
        </a:graphic>
      </p:graphicFrame>
      <p:sp>
        <p:nvSpPr>
          <p:cNvPr id="327" name="Google Shape;327;g3dc9337976c_0_34"/>
          <p:cNvSpPr txBox="1"/>
          <p:nvPr/>
        </p:nvSpPr>
        <p:spPr>
          <a:xfrm>
            <a:off x="86600" y="519000"/>
            <a:ext cx="86112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stg</a:t>
            </a:r>
            <a:r>
              <a:rPr b="1" lang="en-US" sz="1200">
                <a:solidFill>
                  <a:srgbClr val="3B3B3B"/>
                </a:solidFill>
                <a:latin typeface="Calibri"/>
                <a:ea typeface="Calibri"/>
                <a:cs typeface="Calibri"/>
                <a:sym typeface="Calibri"/>
              </a:rPr>
              <a:t>_oil_prices</a:t>
            </a: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d</a:t>
            </a:r>
            <a:r>
              <a:rPr lang="en-US" sz="1200">
                <a:solidFill>
                  <a:srgbClr val="3B3B3B"/>
                </a:solidFill>
                <a:latin typeface="Calibri"/>
                <a:ea typeface="Calibri"/>
                <a:cs typeface="Calibri"/>
                <a:sym typeface="Calibri"/>
              </a:rPr>
              <a:t>aily oil price data with macro indicators: </a:t>
            </a:r>
            <a:endParaRPr sz="1200">
              <a:solidFill>
                <a:srgbClr val="3B3B3B"/>
              </a:solidFill>
              <a:highlight>
                <a:srgbClr val="F8F8F8"/>
              </a:highlight>
              <a:latin typeface="Calibri"/>
              <a:ea typeface="Calibri"/>
              <a:cs typeface="Calibri"/>
              <a:sym typeface="Calibri"/>
            </a:endParaRPr>
          </a:p>
        </p:txBody>
      </p:sp>
      <p:sp>
        <p:nvSpPr>
          <p:cNvPr id="328" name="Google Shape;328;g3dc9337976c_0_34"/>
          <p:cNvSpPr txBox="1"/>
          <p:nvPr/>
        </p:nvSpPr>
        <p:spPr>
          <a:xfrm>
            <a:off x="73309" y="3015575"/>
            <a:ext cx="6783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stg_geo_events</a:t>
            </a:r>
            <a:r>
              <a:rPr lang="en-US" sz="1200">
                <a:solidFill>
                  <a:srgbClr val="3B3B3B"/>
                </a:solidFill>
                <a:latin typeface="Calibri"/>
                <a:ea typeface="Calibri"/>
                <a:cs typeface="Calibri"/>
                <a:sym typeface="Calibri"/>
              </a:rPr>
              <a:t>: description: geopolitical events with severity ratings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33" name="Shape 333"/>
        <p:cNvGrpSpPr/>
        <p:nvPr/>
      </p:nvGrpSpPr>
      <p:grpSpPr>
        <a:xfrm>
          <a:off x="0" y="0"/>
          <a:ext cx="0" cy="0"/>
          <a:chOff x="0" y="0"/>
          <a:chExt cx="0" cy="0"/>
        </a:xfrm>
      </p:grpSpPr>
      <p:sp>
        <p:nvSpPr>
          <p:cNvPr id="334" name="Google Shape;334;g3d26b78a17e_0_24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d26b78a17e_0_24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graphicFrame>
        <p:nvGraphicFramePr>
          <p:cNvPr id="336" name="Google Shape;336;g3d26b78a17e_0_242"/>
          <p:cNvGraphicFramePr/>
          <p:nvPr/>
        </p:nvGraphicFramePr>
        <p:xfrm>
          <a:off x="511263" y="1038824"/>
          <a:ext cx="3000000" cy="3000000"/>
        </p:xfrm>
        <a:graphic>
          <a:graphicData uri="http://schemas.openxmlformats.org/drawingml/2006/table">
            <a:tbl>
              <a:tblPr>
                <a:noFill/>
                <a:tableStyleId>{4D265C60-E324-44FD-8A71-C20D5EAC08D7}</a:tableStyleId>
              </a:tblPr>
              <a:tblGrid>
                <a:gridCol w="912275"/>
                <a:gridCol w="703450"/>
                <a:gridCol w="2011425"/>
                <a:gridCol w="3857975"/>
              </a:tblGrid>
              <a:tr h="22700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Column</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What it checks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Why it matters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missing dates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The mart is the final analytical table — must be clean</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2270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duplicate rows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JOIN could produce duplicates if source data had issues</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Confirms the staging-to-mart transformation preserved data</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4024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Same as above</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bl>
          </a:graphicData>
        </a:graphic>
      </p:graphicFrame>
      <p:graphicFrame>
        <p:nvGraphicFramePr>
          <p:cNvPr id="337" name="Google Shape;337;g3d26b78a17e_0_242"/>
          <p:cNvGraphicFramePr/>
          <p:nvPr/>
        </p:nvGraphicFramePr>
        <p:xfrm>
          <a:off x="533107" y="3413507"/>
          <a:ext cx="3000000" cy="3000000"/>
        </p:xfrm>
        <a:graphic>
          <a:graphicData uri="http://schemas.openxmlformats.org/drawingml/2006/table">
            <a:tbl>
              <a:tblPr>
                <a:noFill/>
                <a:tableStyleId>{4D265C60-E324-44FD-8A71-C20D5EAC08D7}</a:tableStyleId>
              </a:tblPr>
              <a:tblGrid>
                <a:gridCol w="1094825"/>
                <a:gridCol w="2212950"/>
                <a:gridCol w="434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Model</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Tests</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Result</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stg_oil_prices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vix, gpr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6/6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stg_geo_events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event_type, severity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mart_oil_geopolitics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38" name="Google Shape;338;g3d26b78a17e_0_242"/>
          <p:cNvSpPr txBox="1"/>
          <p:nvPr/>
        </p:nvSpPr>
        <p:spPr>
          <a:xfrm>
            <a:off x="268796" y="739885"/>
            <a:ext cx="3000000" cy="602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400"/>
              </a:spcBef>
              <a:spcAft>
                <a:spcPts val="0"/>
              </a:spcAft>
              <a:buClr>
                <a:srgbClr val="3B3B3B"/>
              </a:buClr>
              <a:buSzPts val="1200"/>
              <a:buFont typeface="Roboto"/>
              <a:buChar char="●"/>
            </a:pPr>
            <a:r>
              <a:rPr b="1" lang="en-US" sz="1200">
                <a:solidFill>
                  <a:srgbClr val="3B3B3B"/>
                </a:solidFill>
                <a:latin typeface="Roboto"/>
                <a:ea typeface="Roboto"/>
                <a:cs typeface="Roboto"/>
                <a:sym typeface="Roboto"/>
              </a:rPr>
              <a:t>mart_oil_geopolitics</a:t>
            </a:r>
            <a:endParaRPr b="1" sz="1200">
              <a:solidFill>
                <a:srgbClr val="3B3B3B"/>
              </a:solidFill>
              <a:latin typeface="Roboto"/>
              <a:ea typeface="Roboto"/>
              <a:cs typeface="Roboto"/>
              <a:sym typeface="Roboto"/>
            </a:endParaRPr>
          </a:p>
          <a:p>
            <a:pPr indent="0" lvl="0" marL="0" rtl="0" algn="l">
              <a:lnSpc>
                <a:spcPct val="115000"/>
              </a:lnSpc>
              <a:spcBef>
                <a:spcPts val="400"/>
              </a:spcBef>
              <a:spcAft>
                <a:spcPts val="0"/>
              </a:spcAft>
              <a:buNone/>
            </a:pPr>
            <a:r>
              <a:t/>
            </a:r>
            <a:endParaRPr b="1" sz="1000">
              <a:solidFill>
                <a:schemeClr val="dk1"/>
              </a:solidFill>
            </a:endParaRPr>
          </a:p>
        </p:txBody>
      </p:sp>
      <p:sp>
        <p:nvSpPr>
          <p:cNvPr id="339" name="Google Shape;339;g3d26b78a17e_0_242"/>
          <p:cNvSpPr txBox="1"/>
          <p:nvPr/>
        </p:nvSpPr>
        <p:spPr>
          <a:xfrm>
            <a:off x="66900" y="2270550"/>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000">
              <a:solidFill>
                <a:schemeClr val="dk1"/>
              </a:solidFill>
            </a:endParaRPr>
          </a:p>
        </p:txBody>
      </p:sp>
      <p:sp>
        <p:nvSpPr>
          <p:cNvPr id="340" name="Google Shape;340;g3d26b78a17e_0_242"/>
          <p:cNvSpPr txBox="1"/>
          <p:nvPr/>
        </p:nvSpPr>
        <p:spPr>
          <a:xfrm>
            <a:off x="484249" y="3039750"/>
            <a:ext cx="3000000" cy="63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rgbClr val="3B3B3B"/>
                </a:solidFill>
                <a:latin typeface="Calibri"/>
                <a:ea typeface="Calibri"/>
                <a:cs typeface="Calibri"/>
                <a:sym typeface="Calibri"/>
              </a:rPr>
              <a:t>Test Results Summary</a:t>
            </a:r>
            <a:endParaRPr b="1" sz="1200">
              <a:solidFill>
                <a:srgbClr val="3B3B3B"/>
              </a:solidFill>
              <a:latin typeface="Calibri"/>
              <a:ea typeface="Calibri"/>
              <a:cs typeface="Calibri"/>
              <a:sym typeface="Calibri"/>
            </a:endParaRPr>
          </a:p>
          <a:p>
            <a:pPr indent="0" lvl="0" marL="0" rtl="0" algn="l">
              <a:lnSpc>
                <a:spcPct val="115000"/>
              </a:lnSpc>
              <a:spcBef>
                <a:spcPts val="400"/>
              </a:spcBef>
              <a:spcAft>
                <a:spcPts val="0"/>
              </a:spcAft>
              <a:buNone/>
            </a:pPr>
            <a:r>
              <a:t/>
            </a:r>
            <a:endParaRPr b="1" sz="1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45" name="Shape 345"/>
        <p:cNvGrpSpPr/>
        <p:nvPr/>
      </p:nvGrpSpPr>
      <p:grpSpPr>
        <a:xfrm>
          <a:off x="0" y="0"/>
          <a:ext cx="0" cy="0"/>
          <a:chOff x="0" y="0"/>
          <a:chExt cx="0" cy="0"/>
        </a:xfrm>
      </p:grpSpPr>
      <p:graphicFrame>
        <p:nvGraphicFramePr>
          <p:cNvPr id="346" name="Google Shape;346;g3dc97b155af_0_26"/>
          <p:cNvGraphicFramePr/>
          <p:nvPr/>
        </p:nvGraphicFramePr>
        <p:xfrm>
          <a:off x="4892800" y="2988325"/>
          <a:ext cx="3000000" cy="3000000"/>
        </p:xfrm>
        <a:graphic>
          <a:graphicData uri="http://schemas.openxmlformats.org/drawingml/2006/table">
            <a:tbl>
              <a:tblPr>
                <a:noFill/>
                <a:tableStyleId>{4D265C60-E324-44FD-8A71-C20D5EAC08D7}</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Event date — join key</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event_type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conflict, sanctions, policy, etc.</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event_description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Narrative 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event_severity</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INTEGER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Severity score 1–5</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47" name="Google Shape;347;g3dc97b155af_0_26"/>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dc97b155af_0_26"/>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Type </a:t>
            </a:r>
            <a:endParaRPr b="1" sz="2400">
              <a:solidFill>
                <a:srgbClr val="FFFFFF"/>
              </a:solidFill>
              <a:latin typeface="Calibri"/>
              <a:ea typeface="Calibri"/>
              <a:cs typeface="Calibri"/>
              <a:sym typeface="Calibri"/>
            </a:endParaRPr>
          </a:p>
        </p:txBody>
      </p:sp>
      <p:sp>
        <p:nvSpPr>
          <p:cNvPr id="349" name="Google Shape;349;g3dc97b155af_0_26"/>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50" name="Google Shape;350;g3dc97b155af_0_26"/>
          <p:cNvSpPr txBox="1"/>
          <p:nvPr/>
        </p:nvSpPr>
        <p:spPr>
          <a:xfrm>
            <a:off x="383675" y="677660"/>
            <a:ext cx="8030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Table 1: raw_oil_prices — 4,047 rows</a:t>
            </a:r>
            <a:endParaRPr b="1" sz="1200">
              <a:latin typeface="Calibri"/>
              <a:ea typeface="Calibri"/>
              <a:cs typeface="Calibri"/>
              <a:sym typeface="Calibri"/>
            </a:endParaRPr>
          </a:p>
          <a:p>
            <a:pPr indent="0" lvl="0" marL="0" rtl="0" algn="l">
              <a:spcBef>
                <a:spcPts val="0"/>
              </a:spcBef>
              <a:spcAft>
                <a:spcPts val="0"/>
              </a:spcAft>
              <a:buNone/>
            </a:pPr>
            <a:r>
              <a:rPr b="1" lang="en-US" sz="1200">
                <a:latin typeface="Calibri"/>
                <a:ea typeface="Calibri"/>
                <a:cs typeface="Calibri"/>
                <a:sym typeface="Calibri"/>
              </a:rPr>
              <a:t>Table 2: raw_geo_events — 35 rows</a:t>
            </a:r>
            <a:endParaRPr b="1" sz="12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Schema Flows Into BigQuery via dbt </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DuckDB (auto-inferred) → Meltano → BigQuery raw tables</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stg_oil_prices     → casts date→DATE, prices→FLOAT64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stg_geo_events     → casts date→DATE, severity→INT64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mart_oil_geopolitics → LEFT JOIN on date</a:t>
            </a:r>
            <a:endParaRPr sz="1100">
              <a:latin typeface="Calibri"/>
              <a:ea typeface="Calibri"/>
              <a:cs typeface="Calibri"/>
              <a:sym typeface="Calibri"/>
            </a:endParaRPr>
          </a:p>
        </p:txBody>
      </p:sp>
      <p:graphicFrame>
        <p:nvGraphicFramePr>
          <p:cNvPr id="351" name="Google Shape;351;g3dc97b155af_0_26"/>
          <p:cNvGraphicFramePr/>
          <p:nvPr/>
        </p:nvGraphicFramePr>
        <p:xfrm>
          <a:off x="139025" y="2512075"/>
          <a:ext cx="3000000" cy="3000000"/>
        </p:xfrm>
        <a:graphic>
          <a:graphicData uri="http://schemas.openxmlformats.org/drawingml/2006/table">
            <a:tbl>
              <a:tblPr>
                <a:noFill/>
                <a:tableStyleId>{4D265C60-E324-44FD-8A71-C20D5EAC08D7}</a:tableStyleId>
              </a:tblPr>
              <a:tblGrid>
                <a:gridCol w="990600"/>
                <a:gridCol w="1228725"/>
                <a:gridCol w="185737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Trading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Brent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WTI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dxy_index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US Dollar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vix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CBOE Volatility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gpr_index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Geopolitical Risk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Brent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WTI</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Lag/volatility cols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Rolling volatility + lagged returns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56" name="Shape 356"/>
        <p:cNvGrpSpPr/>
        <p:nvPr/>
      </p:nvGrpSpPr>
      <p:grpSpPr>
        <a:xfrm>
          <a:off x="0" y="0"/>
          <a:ext cx="0" cy="0"/>
          <a:chOff x="0" y="0"/>
          <a:chExt cx="0" cy="0"/>
        </a:xfrm>
      </p:grpSpPr>
      <p:sp>
        <p:nvSpPr>
          <p:cNvPr id="357" name="Google Shape;357;g3dccfc74559_0_45"/>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dccfc74559_0_45"/>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Type</a:t>
            </a:r>
            <a:endParaRPr b="1" sz="2400">
              <a:solidFill>
                <a:srgbClr val="FFFFFF"/>
              </a:solidFill>
              <a:latin typeface="Calibri"/>
              <a:ea typeface="Calibri"/>
              <a:cs typeface="Calibri"/>
              <a:sym typeface="Calibri"/>
            </a:endParaRPr>
          </a:p>
        </p:txBody>
      </p:sp>
      <p:sp>
        <p:nvSpPr>
          <p:cNvPr id="359" name="Google Shape;359;g3dccfc74559_0_45"/>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60" name="Google Shape;360;g3dccfc74559_0_45"/>
          <p:cNvGraphicFramePr/>
          <p:nvPr/>
        </p:nvGraphicFramePr>
        <p:xfrm>
          <a:off x="4833675" y="1164575"/>
          <a:ext cx="3000000" cy="3000000"/>
        </p:xfrm>
        <a:graphic>
          <a:graphicData uri="http://schemas.openxmlformats.org/drawingml/2006/table">
            <a:tbl>
              <a:tblPr>
                <a:noFill/>
                <a:tableStyleId>{4D265C60-E324-44FD-8A71-C20D5EAC08D7}</a:tableStyleId>
              </a:tblPr>
              <a:tblGrid>
                <a:gridCol w="990600"/>
                <a:gridCol w="1228725"/>
                <a:gridCol w="1866900"/>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Trading date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Brent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WTI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dxy_index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US Dollar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vix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CBOE Volatility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gpr_index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Geopolitical Risk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Brent</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WTI</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Lag/volatility cols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Rolling volatility + lagged returns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graphicFrame>
        <p:nvGraphicFramePr>
          <p:cNvPr id="361" name="Google Shape;361;g3dccfc74559_0_45"/>
          <p:cNvGraphicFramePr/>
          <p:nvPr/>
        </p:nvGraphicFramePr>
        <p:xfrm>
          <a:off x="4857488" y="3867150"/>
          <a:ext cx="3000000" cy="3000000"/>
        </p:xfrm>
        <a:graphic>
          <a:graphicData uri="http://schemas.openxmlformats.org/drawingml/2006/table">
            <a:tbl>
              <a:tblPr>
                <a:noFill/>
                <a:tableStyleId>{4D265C60-E324-44FD-8A71-C20D5EAC08D7}</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Event date — join key</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conflict, sanctions, policy, etc.</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event_description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Narrative description</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event_severity</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INTEGER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Severity score 1–5</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sp>
        <p:nvSpPr>
          <p:cNvPr id="362" name="Google Shape;362;g3dccfc74559_0_45"/>
          <p:cNvSpPr txBox="1"/>
          <p:nvPr/>
        </p:nvSpPr>
        <p:spPr>
          <a:xfrm>
            <a:off x="227150" y="1286250"/>
            <a:ext cx="41934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Two Tables in DuckDB (oil_pipeline.duckdb)</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1: raw_oil_prices — 4,047 rows</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2: raw_geo_events — 35 rows</a:t>
            </a:r>
            <a:endParaRPr b="1"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How the Schema Flows Into BigQuery via dbt</a:t>
            </a:r>
            <a:endParaRPr b="1" sz="1100">
              <a:solidFill>
                <a:schemeClr val="dk1"/>
              </a:solidFill>
              <a:latin typeface="Calibri"/>
              <a:ea typeface="Calibri"/>
              <a:cs typeface="Calibri"/>
              <a:sym typeface="Calibri"/>
            </a:endParaRPr>
          </a:p>
          <a:p>
            <a:pPr indent="0" lvl="0" marL="0" rtl="0" algn="l">
              <a:spcBef>
                <a:spcPts val="400"/>
              </a:spcBef>
              <a:spcAft>
                <a:spcPts val="0"/>
              </a:spcAft>
              <a:buNone/>
            </a:pPr>
            <a:r>
              <a:rPr lang="en-US" sz="1100">
                <a:solidFill>
                  <a:schemeClr val="dk1"/>
                </a:solidFill>
                <a:latin typeface="Calibri"/>
                <a:ea typeface="Calibri"/>
                <a:cs typeface="Calibri"/>
                <a:sym typeface="Calibri"/>
              </a:rPr>
              <a:t>DuckDB (auto-inferred) → Meltano → BigQuery raw tables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stg_oil_prices     → casts date→DATE, prices→FLOAT64</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stg_geo_events     → casts date→DATE, severity→INT64</a:t>
            </a:r>
            <a:endParaRPr sz="1100">
              <a:solidFill>
                <a:schemeClr val="dk1"/>
              </a:solidFill>
              <a:latin typeface="Calibri"/>
              <a:ea typeface="Calibri"/>
              <a:cs typeface="Calibri"/>
              <a:sym typeface="Calibri"/>
            </a:endParaRPr>
          </a:p>
          <a:p>
            <a:pPr indent="0" lvl="0" marL="76200" marR="76200" rtl="0" algn="l">
              <a:lnSpc>
                <a:spcPct val="115000"/>
              </a:lnSpc>
              <a:spcBef>
                <a:spcPts val="600"/>
              </a:spcBef>
              <a:spcAft>
                <a:spcPts val="600"/>
              </a:spcAft>
              <a:buNone/>
            </a:pPr>
            <a:r>
              <a:rPr lang="en-US" sz="1100">
                <a:solidFill>
                  <a:schemeClr val="dk1"/>
                </a:solidFill>
                <a:latin typeface="Calibri"/>
                <a:ea typeface="Calibri"/>
                <a:cs typeface="Calibri"/>
                <a:sym typeface="Calibri"/>
              </a:rPr>
              <a:t>                              dbt mart_oil_geopolitics → LEFT JOIN on date</a:t>
            </a:r>
            <a:endParaRPr sz="1100">
              <a:solidFill>
                <a:schemeClr val="dk1"/>
              </a:solidFill>
              <a:latin typeface="Calibri"/>
              <a:ea typeface="Calibri"/>
              <a:cs typeface="Calibri"/>
              <a:sym typeface="Calibri"/>
            </a:endParaRPr>
          </a:p>
        </p:txBody>
      </p:sp>
      <p:sp>
        <p:nvSpPr>
          <p:cNvPr id="363" name="Google Shape;363;g3dccfc74559_0_45"/>
          <p:cNvSpPr txBox="1"/>
          <p:nvPr/>
        </p:nvSpPr>
        <p:spPr>
          <a:xfrm>
            <a:off x="139025" y="586250"/>
            <a:ext cx="7173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lang="en-US" sz="1100">
                <a:solidFill>
                  <a:schemeClr val="dk1"/>
                </a:solidFill>
                <a:latin typeface="Calibri"/>
                <a:ea typeface="Calibri"/>
                <a:cs typeface="Calibri"/>
                <a:sym typeface="Calibri"/>
              </a:rPr>
              <a:t>DuckDB uses CREATE TABLE AS SELECT * — it </a:t>
            </a:r>
            <a:r>
              <a:rPr b="1" lang="en-US" sz="1100">
                <a:solidFill>
                  <a:schemeClr val="dk1"/>
                </a:solidFill>
                <a:latin typeface="Calibri"/>
                <a:ea typeface="Calibri"/>
                <a:cs typeface="Calibri"/>
                <a:sym typeface="Calibri"/>
              </a:rPr>
              <a:t>auto-infers the schema from the CSV</a:t>
            </a:r>
            <a:r>
              <a:rPr lang="en-US" sz="1100">
                <a:solidFill>
                  <a:schemeClr val="dk1"/>
                </a:solidFill>
                <a:latin typeface="Calibri"/>
                <a:ea typeface="Calibri"/>
                <a:cs typeface="Calibri"/>
                <a:sym typeface="Calibri"/>
              </a:rPr>
              <a:t>. The schema is defined by the data itself so n</a:t>
            </a:r>
            <a:r>
              <a:rPr lang="en-US" sz="1100">
                <a:solidFill>
                  <a:schemeClr val="dk1"/>
                </a:solidFill>
                <a:latin typeface="Calibri"/>
                <a:ea typeface="Calibri"/>
                <a:cs typeface="Calibri"/>
                <a:sym typeface="Calibri"/>
              </a:rPr>
              <a:t>o SQL schema file exists. </a:t>
            </a:r>
            <a:endParaRPr sz="1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68" name="Shape 368"/>
        <p:cNvGrpSpPr/>
        <p:nvPr/>
      </p:nvGrpSpPr>
      <p:grpSpPr>
        <a:xfrm>
          <a:off x="0" y="0"/>
          <a:ext cx="0" cy="0"/>
          <a:chOff x="0" y="0"/>
          <a:chExt cx="0" cy="0"/>
        </a:xfrm>
      </p:grpSpPr>
      <p:sp>
        <p:nvSpPr>
          <p:cNvPr id="369" name="Google Shape;369;g3dccfc74559_0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dccfc74559_0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Reference</a:t>
            </a:r>
            <a:endParaRPr b="1" sz="2400">
              <a:solidFill>
                <a:srgbClr val="FFFFFF"/>
              </a:solidFill>
              <a:latin typeface="Calibri"/>
              <a:ea typeface="Calibri"/>
              <a:cs typeface="Calibri"/>
              <a:sym typeface="Calibri"/>
            </a:endParaRPr>
          </a:p>
        </p:txBody>
      </p:sp>
      <p:sp>
        <p:nvSpPr>
          <p:cNvPr id="371" name="Google Shape;371;g3dccfc74559_0_0"/>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72" name="Google Shape;372;g3dccfc74559_0_0"/>
          <p:cNvSpPr txBox="1"/>
          <p:nvPr/>
        </p:nvSpPr>
        <p:spPr>
          <a:xfrm>
            <a:off x="139025" y="556625"/>
            <a:ext cx="8616300" cy="4225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Key metrics include the U.S. Dollar Index (DXY), VIX volatility index, and the Geopolitical Risk (GPR) Index, often enhanced by daily returns, lagged prices, and Brent–WTI spread analysis to model asset price behaviors</a:t>
            </a:r>
            <a:r>
              <a:rPr lang="en-US" sz="1100">
                <a:solidFill>
                  <a:srgbClr val="0A0A0A"/>
                </a:solidFill>
                <a:latin typeface="Calibri"/>
                <a:ea typeface="Calibri"/>
                <a:cs typeface="Calibri"/>
                <a:sym typeface="Calibri"/>
              </a:rPr>
              <a:t>.</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100">
                <a:solidFill>
                  <a:srgbClr val="0A0A0A"/>
                </a:solidFill>
                <a:latin typeface="Calibri"/>
                <a:ea typeface="Calibri"/>
                <a:cs typeface="Calibri"/>
                <a:sym typeface="Calibri"/>
              </a:rPr>
              <a:t>Macroeconomic Indicators</a:t>
            </a:r>
            <a:endParaRPr sz="1100">
              <a:solidFill>
                <a:srgbClr val="0A0A0A"/>
              </a:solidFill>
              <a:latin typeface="Calibri"/>
              <a:ea typeface="Calibri"/>
              <a:cs typeface="Calibri"/>
              <a:sym typeface="Calibri"/>
            </a:endParaRPr>
          </a:p>
          <a:p>
            <a:pPr indent="-298450" lvl="0" marL="457200" rtl="0" algn="l">
              <a:lnSpc>
                <a:spcPct val="100000"/>
              </a:lnSpc>
              <a:spcBef>
                <a:spcPts val="900"/>
              </a:spcBef>
              <a:spcAft>
                <a:spcPts val="0"/>
              </a:spcAft>
              <a:buClr>
                <a:srgbClr val="0A0A0A"/>
              </a:buClr>
              <a:buSzPts val="1100"/>
              <a:buFont typeface="Calibri"/>
              <a:buChar char="●"/>
            </a:pPr>
            <a:r>
              <a:rPr lang="en-US" sz="1100" u="sng">
                <a:solidFill>
                  <a:schemeClr val="hlink"/>
                </a:solidFill>
                <a:latin typeface="Calibri"/>
                <a:ea typeface="Calibri"/>
                <a:cs typeface="Calibri"/>
                <a:sym typeface="Calibri"/>
                <a:hlinkClick r:id="rId3"/>
              </a:rPr>
              <a:t>U.S. Dollar Index (DXY)</a:t>
            </a:r>
            <a:r>
              <a:rPr lang="en-US" sz="1100">
                <a:solidFill>
                  <a:srgbClr val="0A0A0A"/>
                </a:solidFill>
                <a:latin typeface="Calibri"/>
                <a:ea typeface="Calibri"/>
                <a:cs typeface="Calibri"/>
                <a:sym typeface="Calibri"/>
              </a:rPr>
              <a:t>: Measures the USD against a basket of foreign currencies; its depreciation often boosts commodity demand, while high volatility (often linked to the VIX) can impact global equities.</a:t>
            </a:r>
            <a:endParaRPr sz="1100">
              <a:solidFill>
                <a:srgbClr val="0A0A0A"/>
              </a:solidFill>
              <a:latin typeface="Calibri"/>
              <a:ea typeface="Calibri"/>
              <a:cs typeface="Calibri"/>
              <a:sym typeface="Calibri"/>
            </a:endParaRPr>
          </a:p>
          <a:p>
            <a:pPr indent="-298450" lvl="0" marL="457200" rtl="0" algn="l">
              <a:lnSpc>
                <a:spcPct val="100000"/>
              </a:lnSpc>
              <a:spcBef>
                <a:spcPts val="0"/>
              </a:spcBef>
              <a:spcAft>
                <a:spcPts val="0"/>
              </a:spcAft>
              <a:buClr>
                <a:srgbClr val="0A0A0A"/>
              </a:buClr>
              <a:buSzPts val="1100"/>
              <a:buChar char="●"/>
            </a:pPr>
            <a:r>
              <a:rPr lang="en-US" sz="1100" u="sng">
                <a:solidFill>
                  <a:schemeClr val="hlink"/>
                </a:solidFill>
                <a:latin typeface="Calibri"/>
                <a:ea typeface="Calibri"/>
                <a:cs typeface="Calibri"/>
                <a:sym typeface="Calibri"/>
                <a:hlinkClick r:id="rId4"/>
              </a:rPr>
              <a:t>VIX Volatility Index</a:t>
            </a:r>
            <a:r>
              <a:rPr lang="en-US" sz="1100">
                <a:solidFill>
                  <a:srgbClr val="0A0A0A"/>
                </a:solidFill>
                <a:latin typeface="Calibri"/>
                <a:ea typeface="Calibri"/>
                <a:cs typeface="Calibri"/>
                <a:sym typeface="Calibri"/>
              </a:rPr>
              <a:t>: Known as the "fear gauge," it provides a forward-looking measure of market sentiment regarding expected price volatility, often used to identify high-risk regimes. </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rPr b="1" lang="en-US" sz="1100">
                <a:solidFill>
                  <a:srgbClr val="0A0A0A"/>
                </a:solidFill>
                <a:latin typeface="Calibri"/>
                <a:ea typeface="Calibri"/>
                <a:cs typeface="Calibri"/>
                <a:sym typeface="Calibri"/>
              </a:rPr>
              <a:t>Geopolitical Indicators</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Geopolitical Risk Index (GPR): Compiled by Fed economists Caldara and Iacoviello, this index counts keywords in newspapers to quantify the impact of wars, threats, and terror acts on economic activity. High GPR is associated with lower equity returns and higher volatility, especially in energy and materials sectors.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b="1" lang="en-US" sz="1100">
                <a:solidFill>
                  <a:srgbClr val="0A0A0A"/>
                </a:solidFill>
                <a:latin typeface="Calibri"/>
                <a:ea typeface="Calibri"/>
                <a:cs typeface="Calibri"/>
                <a:sym typeface="Calibri"/>
              </a:rPr>
              <a:t>Engineered Features </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Daily Returns: Percentage change in price from the previous day's close.</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Lagged Prices: Using past prices ( ) to predict future movements.</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Rolling Volatility Measures: A moving standard deviation of returns that captures changing risk levels over a specified window.</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Brent–WTI Spread: The price difference between Brent and WTI crude oil, used to gauge regional supply/demand imbalances.</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t/>
            </a:r>
            <a:endParaRPr sz="1100">
              <a:solidFill>
                <a:srgbClr val="0A0A0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2026-03-15T14:30:12Z</dcterms:created>
  <dc:creator>Data Engineering Team</dc:creator>
</cp:coreProperties>
</file>